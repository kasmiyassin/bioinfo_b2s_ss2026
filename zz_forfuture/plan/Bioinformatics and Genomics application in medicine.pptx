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7" r:id="rId3"/>
    <p:sldId id="260" r:id="rId4"/>
    <p:sldId id="263" r:id="rId5"/>
    <p:sldId id="259" r:id="rId6"/>
    <p:sldId id="269" r:id="rId7"/>
    <p:sldId id="262" r:id="rId8"/>
    <p:sldId id="261" r:id="rId9"/>
    <p:sldId id="264" r:id="rId10"/>
    <p:sldId id="265" r:id="rId11"/>
    <p:sldId id="266" r:id="rId12"/>
    <p:sldId id="267" r:id="rId13"/>
    <p:sldId id="268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CC00"/>
    <a:srgbClr val="678513"/>
    <a:srgbClr val="ECF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82" d="100"/>
          <a:sy n="82" d="100"/>
        </p:scale>
        <p:origin x="3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2D6D5-F889-47E5-8AD1-ABA1116317C9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F19C1C-834D-4AF9-9622-25EE2F8581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27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017C-03DC-674D-9F48-8794BCB50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2514A-5B80-6BF9-B162-F29826453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762E1-7C94-0687-BA3B-DA9B56F42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D2533-5159-18E9-F6AA-AE1A3DACC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89B23-7991-9BFE-0AA2-9D6CAF2F8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00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722ED-5E46-E7DE-005E-CB14451D2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C99-88B7-58F9-8905-FFD1F1AE1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622AF-B38A-4049-7411-4671AD2B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3508A-3385-E0C0-E9B5-2272D3C2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F3182-A3B7-834B-FB1A-40CA4596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599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A1D8-0446-36A1-B4E0-AA7C59C0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A7CA8-51D0-B099-C9E1-8BBDD98B5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350D5-FFB8-E7EB-FBDF-2E79CCFA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805E3-9D6F-82EC-82CF-7240F07C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F072-FB96-7DC5-5732-87E0FE01A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93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41197-524E-B2ED-B1F0-322750FB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08251-004F-6793-88E3-CEE8A55AB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04161-F62B-649F-E1A7-DCF8F38C3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55ADA-20F4-B99D-7DD5-1D2DADD1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555E9-105D-6077-D772-87EB6E92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CA41-DA1A-2FED-D023-8F7D9B7A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75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4A59-ADCC-6508-27FB-739C3B27A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BE486-354A-A13A-15DE-D334AF8D6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5B1FB-7CD7-6186-F6F9-5AB8B3AC6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4F752-A0FD-2BD0-68BA-DEDB53899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7B28C-49EE-1B62-EE53-F68024DA5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01C6F-9014-BB77-15CB-C9A25AF47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D33D-7E5D-8E1F-EA31-4957C4C7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FCDD6-836B-2F50-0A35-45E4424F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83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8BE-8412-F775-DB5F-2972709D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6EAE2-E1C5-4ECE-6D59-573CEB048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119B5-9B3C-12A7-1CAF-3A9BEF3E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71139-8651-B210-3C4E-02D6B176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92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1766B2-13AB-4AAE-4E83-E0F56B80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B1AB4-96C8-A178-2D83-68B300342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0605D-934D-BD70-73CA-59A5A18C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530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66D8-8263-7A65-CEFE-E056AD53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1066A-195A-8333-D169-E5A7D2EE6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22BA7-D0EF-BF97-D46C-9D6EFDD14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BE38E-87E9-60E2-683B-64EB80143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20F52-D1D9-88E3-DE13-5C0F7DEC8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C33AF-676F-0895-BCE8-9C6648BB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49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172C-B403-7259-0E9D-53AA4267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C27C9D-1A0B-8949-6921-85F8B7774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96502-1F04-8647-75F7-6893243AD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303FC-FE44-47C7-3B69-224EC33F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98A61-D981-C5FE-EA95-DE14EAAF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B21E6-6E10-EC46-DAAD-8549221B2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49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3A2B-0CEA-BF76-05B7-C7BDAD89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38D4A-A4B8-056E-0886-515755FCA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94C6D-D187-5B09-78D9-A895EDFA2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7571E-5925-D68E-65CC-1D62908DB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BFCE5-23A1-3642-7DE0-E7D3F6DF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17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CB3304-C351-F598-5288-C9446621CC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4697B-D356-5404-40B3-5BB1ABA67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F3471-6643-7672-DEBA-BF7479A0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04C62-60A2-AB53-0AA3-52C790E5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97CDF-5E6A-D8BD-23A9-F7848F1E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616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3A640-541A-397E-1FD7-EC8E239C7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BDB1A-A025-494A-9B0F-119C9E149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BD5CC-5842-9509-9257-53AA8BFAC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170F8-A50D-4578-AA45-0EC208CC12FC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10BCE-2D2C-6C86-5C6E-3B6093A9D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A6162-782D-4990-2AB7-743A8705B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FD99F-138E-48FD-8724-1C60854CC5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86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F0F5F57-BBE2-46FC-8265-7D1C41A3E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2" t="20303" r="-437" b="18161"/>
          <a:stretch>
            <a:fillRect/>
          </a:stretch>
        </p:blipFill>
        <p:spPr>
          <a:xfrm>
            <a:off x="0" y="1170995"/>
            <a:ext cx="12253118" cy="400706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4B94A6B-8FF3-4E3C-96EE-CFAB5B1FD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2874"/>
            <a:ext cx="12253118" cy="171184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Bioinformatics and Genomics application in medicine</a:t>
            </a:r>
            <a:br>
              <a:rPr lang="en-GB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Dr. Yassine Kasmi</a:t>
            </a:r>
            <a:endParaRPr lang="en-US" sz="4000" dirty="0">
              <a:ln w="0"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7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E8C3DAE-CFEC-88F3-7ABC-56A92CC4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642" y="0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ea typeface="+mj-ea"/>
                <a:cs typeface="+mj-cs"/>
              </a:rPr>
              <a:t>Key Topics in Medical Bioinformatics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525517-3D1E-17BF-1154-0EB8DE8839E9}"/>
              </a:ext>
            </a:extLst>
          </p:cNvPr>
          <p:cNvSpPr txBox="1"/>
          <p:nvPr/>
        </p:nvSpPr>
        <p:spPr>
          <a:xfrm>
            <a:off x="2464345" y="2504578"/>
            <a:ext cx="55027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b="1" dirty="0">
                <a:latin typeface="+mj-lt"/>
              </a:rPr>
              <a:t>NGS Data Quality Control</a:t>
            </a:r>
            <a:endParaRPr lang="en-US" sz="24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C71217-2B86-BABB-79DF-4CEF921A9ECB}"/>
              </a:ext>
            </a:extLst>
          </p:cNvPr>
          <p:cNvSpPr txBox="1"/>
          <p:nvPr/>
        </p:nvSpPr>
        <p:spPr>
          <a:xfrm>
            <a:off x="4329918" y="3762008"/>
            <a:ext cx="55027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b="1" dirty="0">
                <a:latin typeface="+mj-lt"/>
              </a:rPr>
              <a:t>Variant Calling and Analysis</a:t>
            </a:r>
            <a:endParaRPr lang="en-US" sz="24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9842A2-A30C-BCB8-A5B9-523A25A87818}"/>
              </a:ext>
            </a:extLst>
          </p:cNvPr>
          <p:cNvSpPr txBox="1"/>
          <p:nvPr/>
        </p:nvSpPr>
        <p:spPr>
          <a:xfrm>
            <a:off x="3249827" y="4794216"/>
            <a:ext cx="4230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b="1" dirty="0">
                <a:latin typeface="+mj-lt"/>
              </a:rPr>
              <a:t>Single Cell RNA Sequencing</a:t>
            </a:r>
            <a:endParaRPr lang="en-US" sz="24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844031-05AC-91F4-42FC-849223EE8F3A}"/>
              </a:ext>
            </a:extLst>
          </p:cNvPr>
          <p:cNvSpPr txBox="1"/>
          <p:nvPr/>
        </p:nvSpPr>
        <p:spPr>
          <a:xfrm>
            <a:off x="3013947" y="5835817"/>
            <a:ext cx="55027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b="1" dirty="0">
                <a:latin typeface="+mj-lt"/>
              </a:rPr>
              <a:t>Microbiome profiling and metagenomics</a:t>
            </a:r>
            <a:endParaRPr lang="en-US" sz="2400" dirty="0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D43A91-29EF-EAA4-91A0-A77E73BFA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58" t="7132" r="7570" b="5736"/>
          <a:stretch>
            <a:fillRect/>
          </a:stretch>
        </p:blipFill>
        <p:spPr>
          <a:xfrm>
            <a:off x="1124642" y="1528137"/>
            <a:ext cx="1005628" cy="10275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CA996D-82D6-C7B4-54B2-BC7423B9B53F}"/>
              </a:ext>
            </a:extLst>
          </p:cNvPr>
          <p:cNvSpPr txBox="1"/>
          <p:nvPr/>
        </p:nvSpPr>
        <p:spPr>
          <a:xfrm>
            <a:off x="2057018" y="1478646"/>
            <a:ext cx="61266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b="1" dirty="0">
                <a:latin typeface="+mj-lt"/>
              </a:rPr>
              <a:t>NGS and </a:t>
            </a:r>
            <a:r>
              <a:rPr lang="en-GB" sz="2400" b="1" dirty="0"/>
              <a:t>Bioinformatics </a:t>
            </a:r>
            <a:r>
              <a:rPr lang="en-GB" sz="2400" b="1" dirty="0">
                <a:latin typeface="+mj-lt"/>
              </a:rPr>
              <a:t>Introduction</a:t>
            </a:r>
            <a:endParaRPr lang="en-US" sz="2400" dirty="0">
              <a:latin typeface="+mj-l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3388AE-70B1-7642-DD36-195A75660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09" y="2153121"/>
            <a:ext cx="1056146" cy="10561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2B2EA90-3464-BD2B-3EA0-BA35A02B1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056" y="3053560"/>
            <a:ext cx="1425862" cy="14258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04FB31D-EF5E-E778-01F2-23E705396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491" y="4386474"/>
            <a:ext cx="1189637" cy="119084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6B7B67B-9418-1BBC-5CE1-20E53BD49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048" y="5236239"/>
            <a:ext cx="1107176" cy="110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4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653387-BCC9-712F-DE83-E28CC6218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219" y="924874"/>
            <a:ext cx="6729467" cy="534833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30C19D-6B28-DE88-47C0-4034B3BF7F07}"/>
              </a:ext>
            </a:extLst>
          </p:cNvPr>
          <p:cNvSpPr txBox="1">
            <a:spLocks/>
          </p:cNvSpPr>
          <p:nvPr/>
        </p:nvSpPr>
        <p:spPr>
          <a:xfrm>
            <a:off x="1124642" y="0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Central Dogma</a:t>
            </a:r>
          </a:p>
        </p:txBody>
      </p:sp>
    </p:spTree>
    <p:extLst>
      <p:ext uri="{BB962C8B-B14F-4D97-AF65-F5344CB8AC3E}">
        <p14:creationId xmlns:p14="http://schemas.microsoft.com/office/powerpoint/2010/main" val="615801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F3156B-33A5-9BD7-2C6B-4C6E5F17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25DCAF-8E97-2812-75F5-5F43093BC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219" y="924874"/>
            <a:ext cx="6729467" cy="534833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AB595F-5F26-4762-5CAF-E633C6D3686A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192000" cy="676230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1D7204-01E9-2883-EA37-5C651BD74E47}"/>
              </a:ext>
            </a:extLst>
          </p:cNvPr>
          <p:cNvCxnSpPr>
            <a:cxnSpLocks/>
          </p:cNvCxnSpPr>
          <p:nvPr/>
        </p:nvCxnSpPr>
        <p:spPr>
          <a:xfrm flipH="1">
            <a:off x="74428" y="74428"/>
            <a:ext cx="12117572" cy="678357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3A812A85-FBBC-24AE-505F-835946A10C9E}"/>
              </a:ext>
            </a:extLst>
          </p:cNvPr>
          <p:cNvSpPr txBox="1">
            <a:spLocks/>
          </p:cNvSpPr>
          <p:nvPr/>
        </p:nvSpPr>
        <p:spPr>
          <a:xfrm>
            <a:off x="1124642" y="0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Central Dogma</a:t>
            </a:r>
          </a:p>
        </p:txBody>
      </p:sp>
    </p:spTree>
    <p:extLst>
      <p:ext uri="{BB962C8B-B14F-4D97-AF65-F5344CB8AC3E}">
        <p14:creationId xmlns:p14="http://schemas.microsoft.com/office/powerpoint/2010/main" val="3460918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81CA44-02BE-0F94-5ED1-E39AE5923837}"/>
              </a:ext>
            </a:extLst>
          </p:cNvPr>
          <p:cNvSpPr/>
          <p:nvPr/>
        </p:nvSpPr>
        <p:spPr>
          <a:xfrm rot="21062519">
            <a:off x="4239430" y="804897"/>
            <a:ext cx="4022237" cy="28814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200" b="1" dirty="0">
                <a:solidFill>
                  <a:schemeClr val="tx1"/>
                </a:solidFill>
              </a:rPr>
              <a:t>DNA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F4DA91-11DE-99EC-8AAF-E5AB253B82FA}"/>
              </a:ext>
            </a:extLst>
          </p:cNvPr>
          <p:cNvSpPr/>
          <p:nvPr/>
        </p:nvSpPr>
        <p:spPr>
          <a:xfrm rot="21062519">
            <a:off x="4111097" y="1981433"/>
            <a:ext cx="4022237" cy="2881423"/>
          </a:xfrm>
          <a:prstGeom prst="rect">
            <a:avLst/>
          </a:prstGeom>
          <a:solidFill>
            <a:srgbClr val="ECF5C1"/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0" b="1" dirty="0">
                <a:solidFill>
                  <a:schemeClr val="tx1"/>
                </a:solidFill>
              </a:rPr>
              <a:t>mRNA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A997D1-E5BF-1A30-92E4-44ABC745A2A5}"/>
              </a:ext>
            </a:extLst>
          </p:cNvPr>
          <p:cNvSpPr/>
          <p:nvPr/>
        </p:nvSpPr>
        <p:spPr>
          <a:xfrm rot="21062519">
            <a:off x="3598922" y="4408853"/>
            <a:ext cx="4022237" cy="2881423"/>
          </a:xfrm>
          <a:prstGeom prst="rect">
            <a:avLst/>
          </a:prstGeom>
          <a:scene3d>
            <a:camera prst="isometricOffAxis2Top"/>
            <a:lightRig rig="threePt" dir="t"/>
          </a:scene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4000" b="1" dirty="0" err="1"/>
              <a:t>Phenomics</a:t>
            </a:r>
            <a:endParaRPr lang="en-GB" sz="40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0F08FB-E24A-FB12-4C59-0BEAE148CF52}"/>
              </a:ext>
            </a:extLst>
          </p:cNvPr>
          <p:cNvSpPr/>
          <p:nvPr/>
        </p:nvSpPr>
        <p:spPr>
          <a:xfrm rot="21062519">
            <a:off x="3759762" y="3171680"/>
            <a:ext cx="4022237" cy="2881423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Protein</a:t>
            </a:r>
            <a:endParaRPr lang="en-GB" sz="54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957177-FD2A-3D91-DC6F-2FA587534276}"/>
              </a:ext>
            </a:extLst>
          </p:cNvPr>
          <p:cNvSpPr txBox="1"/>
          <p:nvPr/>
        </p:nvSpPr>
        <p:spPr>
          <a:xfrm>
            <a:off x="1160203" y="1904793"/>
            <a:ext cx="1699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dirty="0">
                <a:latin typeface="+mj-lt"/>
              </a:rPr>
              <a:t>Genomics</a:t>
            </a:r>
            <a:endParaRPr lang="en-US" sz="2400" dirty="0"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8CC50F-A06B-64F1-41E5-124F34710BCC}"/>
              </a:ext>
            </a:extLst>
          </p:cNvPr>
          <p:cNvSpPr txBox="1"/>
          <p:nvPr/>
        </p:nvSpPr>
        <p:spPr>
          <a:xfrm>
            <a:off x="1053070" y="3319974"/>
            <a:ext cx="2474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dirty="0">
                <a:latin typeface="+mj-lt"/>
              </a:rPr>
              <a:t>Transcriptomics</a:t>
            </a:r>
            <a:endParaRPr lang="en-US" sz="2400" dirty="0">
              <a:latin typeface="+mj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DFE522-9B14-D2A4-3230-94E0D13B114F}"/>
              </a:ext>
            </a:extLst>
          </p:cNvPr>
          <p:cNvSpPr txBox="1"/>
          <p:nvPr/>
        </p:nvSpPr>
        <p:spPr>
          <a:xfrm>
            <a:off x="1085578" y="4484638"/>
            <a:ext cx="2474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dirty="0">
                <a:latin typeface="+mj-lt"/>
              </a:rPr>
              <a:t>Proteomics</a:t>
            </a:r>
            <a:endParaRPr lang="en-US" sz="2400" dirty="0"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E99EEA-35EA-BC84-6E76-FECEC004391A}"/>
              </a:ext>
            </a:extLst>
          </p:cNvPr>
          <p:cNvSpPr txBox="1"/>
          <p:nvPr/>
        </p:nvSpPr>
        <p:spPr>
          <a:xfrm>
            <a:off x="1085579" y="5779334"/>
            <a:ext cx="2474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dirty="0">
                <a:latin typeface="+mj-lt"/>
              </a:rPr>
              <a:t>Phenomics</a:t>
            </a:r>
            <a:endParaRPr lang="en-US" sz="2400" dirty="0">
              <a:latin typeface="+mj-lt"/>
            </a:endParaRP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260C4DBA-D4CD-F567-DB62-7004BD982DE2}"/>
              </a:ext>
            </a:extLst>
          </p:cNvPr>
          <p:cNvSpPr txBox="1">
            <a:spLocks/>
          </p:cNvSpPr>
          <p:nvPr/>
        </p:nvSpPr>
        <p:spPr>
          <a:xfrm>
            <a:off x="1124642" y="0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Central Dogma</a:t>
            </a:r>
          </a:p>
        </p:txBody>
      </p:sp>
    </p:spTree>
    <p:extLst>
      <p:ext uri="{BB962C8B-B14F-4D97-AF65-F5344CB8AC3E}">
        <p14:creationId xmlns:p14="http://schemas.microsoft.com/office/powerpoint/2010/main" val="1201977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2B110-AFC9-FCE8-A16C-BA266C3F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566766-9712-3F6C-43ED-FA6549752D6C}"/>
              </a:ext>
            </a:extLst>
          </p:cNvPr>
          <p:cNvSpPr/>
          <p:nvPr/>
        </p:nvSpPr>
        <p:spPr>
          <a:xfrm rot="21062519">
            <a:off x="4239430" y="804897"/>
            <a:ext cx="4022237" cy="28814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F2ADB3-81DA-8C31-49F2-02315964534F}"/>
              </a:ext>
            </a:extLst>
          </p:cNvPr>
          <p:cNvSpPr/>
          <p:nvPr/>
        </p:nvSpPr>
        <p:spPr>
          <a:xfrm>
            <a:off x="5108248" y="1807539"/>
            <a:ext cx="382773" cy="382773"/>
          </a:xfrm>
          <a:prstGeom prst="ellipse">
            <a:avLst/>
          </a:prstGeom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561DB0-2B89-953A-AA3B-465273E617C1}"/>
              </a:ext>
            </a:extLst>
          </p:cNvPr>
          <p:cNvSpPr/>
          <p:nvPr/>
        </p:nvSpPr>
        <p:spPr>
          <a:xfrm>
            <a:off x="5867777" y="1749650"/>
            <a:ext cx="382773" cy="382773"/>
          </a:xfrm>
          <a:prstGeom prst="ellipse">
            <a:avLst/>
          </a:prstGeom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B13294-E139-28D8-A17D-915199B177FD}"/>
              </a:ext>
            </a:extLst>
          </p:cNvPr>
          <p:cNvSpPr/>
          <p:nvPr/>
        </p:nvSpPr>
        <p:spPr>
          <a:xfrm>
            <a:off x="5381403" y="2200426"/>
            <a:ext cx="382773" cy="382773"/>
          </a:xfrm>
          <a:prstGeom prst="ellipse">
            <a:avLst/>
          </a:prstGeom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7E7F12-5FB5-C41D-8470-82FB49AEEBA9}"/>
              </a:ext>
            </a:extLst>
          </p:cNvPr>
          <p:cNvSpPr/>
          <p:nvPr/>
        </p:nvSpPr>
        <p:spPr>
          <a:xfrm>
            <a:off x="6977626" y="1998926"/>
            <a:ext cx="382773" cy="382773"/>
          </a:xfrm>
          <a:prstGeom prst="ellipse">
            <a:avLst/>
          </a:prstGeom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3454E6-A25D-3D68-CF2D-265A52A979E7}"/>
              </a:ext>
            </a:extLst>
          </p:cNvPr>
          <p:cNvSpPr/>
          <p:nvPr/>
        </p:nvSpPr>
        <p:spPr>
          <a:xfrm>
            <a:off x="5906359" y="1998926"/>
            <a:ext cx="382773" cy="382773"/>
          </a:xfrm>
          <a:prstGeom prst="ellipse">
            <a:avLst/>
          </a:prstGeom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1DE5F5-FF3A-5D34-2644-14EA42B03320}"/>
              </a:ext>
            </a:extLst>
          </p:cNvPr>
          <p:cNvSpPr/>
          <p:nvPr/>
        </p:nvSpPr>
        <p:spPr>
          <a:xfrm rot="21062519">
            <a:off x="4111097" y="1981433"/>
            <a:ext cx="4022237" cy="2881423"/>
          </a:xfrm>
          <a:prstGeom prst="rect">
            <a:avLst/>
          </a:prstGeom>
          <a:solidFill>
            <a:srgbClr val="ECF5C1"/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B99357-D087-1D19-3835-FA310D1F121C}"/>
              </a:ext>
            </a:extLst>
          </p:cNvPr>
          <p:cNvSpPr/>
          <p:nvPr/>
        </p:nvSpPr>
        <p:spPr>
          <a:xfrm>
            <a:off x="4979915" y="2984075"/>
            <a:ext cx="382773" cy="382773"/>
          </a:xfrm>
          <a:prstGeom prst="ellipse">
            <a:avLst/>
          </a:prstGeom>
          <a:solidFill>
            <a:srgbClr val="FF9933"/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FB9714-F573-1036-C949-0F388BF2FA91}"/>
              </a:ext>
            </a:extLst>
          </p:cNvPr>
          <p:cNvSpPr/>
          <p:nvPr/>
        </p:nvSpPr>
        <p:spPr>
          <a:xfrm>
            <a:off x="5739444" y="2926186"/>
            <a:ext cx="382773" cy="382773"/>
          </a:xfrm>
          <a:prstGeom prst="ellipse">
            <a:avLst/>
          </a:prstGeom>
          <a:solidFill>
            <a:srgbClr val="FF9933"/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349505-E09E-480A-8333-E7F9D9E11C2B}"/>
              </a:ext>
            </a:extLst>
          </p:cNvPr>
          <p:cNvSpPr/>
          <p:nvPr/>
        </p:nvSpPr>
        <p:spPr>
          <a:xfrm>
            <a:off x="5253070" y="3376962"/>
            <a:ext cx="382773" cy="382773"/>
          </a:xfrm>
          <a:prstGeom prst="ellipse">
            <a:avLst/>
          </a:prstGeom>
          <a:solidFill>
            <a:srgbClr val="FF9933"/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0FC84B-D590-2CE5-006C-E77C3DA64859}"/>
              </a:ext>
            </a:extLst>
          </p:cNvPr>
          <p:cNvSpPr/>
          <p:nvPr/>
        </p:nvSpPr>
        <p:spPr>
          <a:xfrm>
            <a:off x="6849293" y="3175462"/>
            <a:ext cx="382773" cy="382773"/>
          </a:xfrm>
          <a:prstGeom prst="ellipse">
            <a:avLst/>
          </a:prstGeom>
          <a:solidFill>
            <a:srgbClr val="FF9933"/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17E72A-E954-E741-A1CC-F8414BC99F2A}"/>
              </a:ext>
            </a:extLst>
          </p:cNvPr>
          <p:cNvSpPr/>
          <p:nvPr/>
        </p:nvSpPr>
        <p:spPr>
          <a:xfrm>
            <a:off x="5778026" y="3175462"/>
            <a:ext cx="382773" cy="382773"/>
          </a:xfrm>
          <a:prstGeom prst="ellipse">
            <a:avLst/>
          </a:prstGeom>
          <a:solidFill>
            <a:srgbClr val="FF9933"/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F78BE5-D7D0-9192-3886-5DCB637AD344}"/>
              </a:ext>
            </a:extLst>
          </p:cNvPr>
          <p:cNvSpPr/>
          <p:nvPr/>
        </p:nvSpPr>
        <p:spPr>
          <a:xfrm rot="21062519">
            <a:off x="4104009" y="3129457"/>
            <a:ext cx="4022237" cy="28814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24FFEE-84E7-120B-8937-F00447A02AE5}"/>
              </a:ext>
            </a:extLst>
          </p:cNvPr>
          <p:cNvSpPr/>
          <p:nvPr/>
        </p:nvSpPr>
        <p:spPr>
          <a:xfrm>
            <a:off x="4972827" y="4132099"/>
            <a:ext cx="382773" cy="382773"/>
          </a:xfrm>
          <a:prstGeom prst="ellipse">
            <a:avLst/>
          </a:prstGeom>
          <a:solidFill>
            <a:schemeClr val="accent6">
              <a:lumMod val="50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FAD0581-2CAF-D09B-D633-9E030B29BAD4}"/>
              </a:ext>
            </a:extLst>
          </p:cNvPr>
          <p:cNvSpPr/>
          <p:nvPr/>
        </p:nvSpPr>
        <p:spPr>
          <a:xfrm>
            <a:off x="5732356" y="4074210"/>
            <a:ext cx="382773" cy="382773"/>
          </a:xfrm>
          <a:prstGeom prst="ellipse">
            <a:avLst/>
          </a:prstGeom>
          <a:solidFill>
            <a:schemeClr val="accent6">
              <a:lumMod val="50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7DB364-DBAA-FC10-0BDA-00DEDDDED432}"/>
              </a:ext>
            </a:extLst>
          </p:cNvPr>
          <p:cNvSpPr/>
          <p:nvPr/>
        </p:nvSpPr>
        <p:spPr>
          <a:xfrm>
            <a:off x="5245982" y="4524986"/>
            <a:ext cx="382773" cy="382773"/>
          </a:xfrm>
          <a:prstGeom prst="ellipse">
            <a:avLst/>
          </a:prstGeom>
          <a:solidFill>
            <a:schemeClr val="accent6">
              <a:lumMod val="50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7E1A6D9-E15C-B6FE-DEA6-3DCBE1C65BC1}"/>
              </a:ext>
            </a:extLst>
          </p:cNvPr>
          <p:cNvSpPr/>
          <p:nvPr/>
        </p:nvSpPr>
        <p:spPr>
          <a:xfrm>
            <a:off x="6842205" y="4323486"/>
            <a:ext cx="382773" cy="382773"/>
          </a:xfrm>
          <a:prstGeom prst="ellipse">
            <a:avLst/>
          </a:prstGeom>
          <a:solidFill>
            <a:schemeClr val="accent6">
              <a:lumMod val="50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F6501F-B7DC-4830-D7FD-C36D21F13191}"/>
              </a:ext>
            </a:extLst>
          </p:cNvPr>
          <p:cNvSpPr/>
          <p:nvPr/>
        </p:nvSpPr>
        <p:spPr>
          <a:xfrm>
            <a:off x="5770938" y="4323486"/>
            <a:ext cx="382773" cy="382773"/>
          </a:xfrm>
          <a:prstGeom prst="ellipse">
            <a:avLst/>
          </a:prstGeom>
          <a:solidFill>
            <a:schemeClr val="accent6">
              <a:lumMod val="50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7FC720-67B9-4CB6-BFA8-5C7033E5E3D4}"/>
              </a:ext>
            </a:extLst>
          </p:cNvPr>
          <p:cNvSpPr/>
          <p:nvPr/>
        </p:nvSpPr>
        <p:spPr>
          <a:xfrm rot="21062519">
            <a:off x="4082743" y="4338623"/>
            <a:ext cx="4022237" cy="2881423"/>
          </a:xfrm>
          <a:prstGeom prst="rect">
            <a:avLst/>
          </a:prstGeom>
          <a:solidFill>
            <a:schemeClr val="accent1">
              <a:lumMod val="75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949D267-0C76-A581-6FFC-240FFE59FC8B}"/>
              </a:ext>
            </a:extLst>
          </p:cNvPr>
          <p:cNvSpPr/>
          <p:nvPr/>
        </p:nvSpPr>
        <p:spPr>
          <a:xfrm>
            <a:off x="4972827" y="5341265"/>
            <a:ext cx="382773" cy="382773"/>
          </a:xfrm>
          <a:prstGeom prst="ellipse">
            <a:avLst/>
          </a:prstGeom>
          <a:solidFill>
            <a:schemeClr val="bg1">
              <a:lumMod val="85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41A8AFD-29BE-A01F-F5D5-FF92375C593C}"/>
              </a:ext>
            </a:extLst>
          </p:cNvPr>
          <p:cNvSpPr/>
          <p:nvPr/>
        </p:nvSpPr>
        <p:spPr>
          <a:xfrm>
            <a:off x="5732356" y="5283376"/>
            <a:ext cx="382773" cy="382773"/>
          </a:xfrm>
          <a:prstGeom prst="ellipse">
            <a:avLst/>
          </a:prstGeom>
          <a:solidFill>
            <a:schemeClr val="bg1">
              <a:lumMod val="85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D65D9ED-FA8E-1D0B-61C9-2C41A1A0AF25}"/>
              </a:ext>
            </a:extLst>
          </p:cNvPr>
          <p:cNvSpPr/>
          <p:nvPr/>
        </p:nvSpPr>
        <p:spPr>
          <a:xfrm>
            <a:off x="5245982" y="5734152"/>
            <a:ext cx="382773" cy="382773"/>
          </a:xfrm>
          <a:prstGeom prst="ellipse">
            <a:avLst/>
          </a:prstGeom>
          <a:solidFill>
            <a:schemeClr val="bg1">
              <a:lumMod val="85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4EC2798-E557-5A5B-BBF3-A4C6E68EE560}"/>
              </a:ext>
            </a:extLst>
          </p:cNvPr>
          <p:cNvSpPr/>
          <p:nvPr/>
        </p:nvSpPr>
        <p:spPr>
          <a:xfrm>
            <a:off x="6842205" y="5532652"/>
            <a:ext cx="382773" cy="382773"/>
          </a:xfrm>
          <a:prstGeom prst="ellipse">
            <a:avLst/>
          </a:prstGeom>
          <a:solidFill>
            <a:schemeClr val="bg1">
              <a:lumMod val="85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1C2758-A4BB-8AA3-7B0B-D7F5EA6A7210}"/>
              </a:ext>
            </a:extLst>
          </p:cNvPr>
          <p:cNvSpPr/>
          <p:nvPr/>
        </p:nvSpPr>
        <p:spPr>
          <a:xfrm>
            <a:off x="5770938" y="5532652"/>
            <a:ext cx="382773" cy="382773"/>
          </a:xfrm>
          <a:prstGeom prst="ellipse">
            <a:avLst/>
          </a:prstGeom>
          <a:solidFill>
            <a:schemeClr val="bg1">
              <a:lumMod val="85000"/>
            </a:schemeClr>
          </a:solidFill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32F042-E2FF-F74A-0500-42B3FEBB3D29}"/>
              </a:ext>
            </a:extLst>
          </p:cNvPr>
          <p:cNvSpPr txBox="1"/>
          <p:nvPr/>
        </p:nvSpPr>
        <p:spPr>
          <a:xfrm>
            <a:off x="1160203" y="1904793"/>
            <a:ext cx="1699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dirty="0">
                <a:latin typeface="+mj-lt"/>
              </a:rPr>
              <a:t>Genomics</a:t>
            </a:r>
            <a:endParaRPr lang="en-US" sz="2400" dirty="0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A55D82-1D26-9A31-0328-A49EE68561C9}"/>
              </a:ext>
            </a:extLst>
          </p:cNvPr>
          <p:cNvSpPr txBox="1"/>
          <p:nvPr/>
        </p:nvSpPr>
        <p:spPr>
          <a:xfrm>
            <a:off x="4786240" y="1530420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eDNA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5C5FFB-1576-FCA4-DD8F-C53BC9E85FFF}"/>
              </a:ext>
            </a:extLst>
          </p:cNvPr>
          <p:cNvSpPr txBox="1"/>
          <p:nvPr/>
        </p:nvSpPr>
        <p:spPr>
          <a:xfrm>
            <a:off x="6097745" y="1592890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F322A8-44A8-1F45-E94C-EFF791FB9F27}"/>
              </a:ext>
            </a:extLst>
          </p:cNvPr>
          <p:cNvSpPr txBox="1"/>
          <p:nvPr/>
        </p:nvSpPr>
        <p:spPr>
          <a:xfrm>
            <a:off x="6800847" y="2178430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DNA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4BE484-1232-F774-580F-035357E9972E}"/>
              </a:ext>
            </a:extLst>
          </p:cNvPr>
          <p:cNvSpPr txBox="1"/>
          <p:nvPr/>
        </p:nvSpPr>
        <p:spPr>
          <a:xfrm>
            <a:off x="5043980" y="2123969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exDNA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71BFCA-31D6-FD6B-5C1C-4F04CBED6BD0}"/>
              </a:ext>
            </a:extLst>
          </p:cNvPr>
          <p:cNvSpPr txBox="1"/>
          <p:nvPr/>
        </p:nvSpPr>
        <p:spPr>
          <a:xfrm>
            <a:off x="4723186" y="2784790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lncRNA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A1BB4A-2951-9204-7225-66B348BDC714}"/>
              </a:ext>
            </a:extLst>
          </p:cNvPr>
          <p:cNvSpPr txBox="1"/>
          <p:nvPr/>
        </p:nvSpPr>
        <p:spPr>
          <a:xfrm>
            <a:off x="6109702" y="2879539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miRNA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8A707F-EAED-ADDF-1EEF-558BA0C89F23}"/>
              </a:ext>
            </a:extLst>
          </p:cNvPr>
          <p:cNvSpPr txBox="1"/>
          <p:nvPr/>
        </p:nvSpPr>
        <p:spPr>
          <a:xfrm>
            <a:off x="6097745" y="3219776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piRNA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F5E9B1-F2EC-256F-E3C9-376C4A905B5D}"/>
              </a:ext>
            </a:extLst>
          </p:cNvPr>
          <p:cNvSpPr txBox="1"/>
          <p:nvPr/>
        </p:nvSpPr>
        <p:spPr>
          <a:xfrm>
            <a:off x="4620988" y="3314370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mRNA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2D63F0-2D62-1722-B4A3-159D43B41F75}"/>
              </a:ext>
            </a:extLst>
          </p:cNvPr>
          <p:cNvSpPr txBox="1"/>
          <p:nvPr/>
        </p:nvSpPr>
        <p:spPr>
          <a:xfrm>
            <a:off x="1053070" y="3319974"/>
            <a:ext cx="2474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dirty="0">
                <a:latin typeface="+mj-lt"/>
              </a:rPr>
              <a:t>Transcriptomics</a:t>
            </a:r>
            <a:endParaRPr lang="en-US" sz="2400" dirty="0">
              <a:latin typeface="+mj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3D6B65-47D7-0A06-33F9-FCA5B8DF6387}"/>
              </a:ext>
            </a:extLst>
          </p:cNvPr>
          <p:cNvSpPr txBox="1"/>
          <p:nvPr/>
        </p:nvSpPr>
        <p:spPr>
          <a:xfrm>
            <a:off x="1064313" y="4485539"/>
            <a:ext cx="2474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dirty="0">
                <a:latin typeface="+mj-lt"/>
              </a:rPr>
              <a:t>Epigenetics</a:t>
            </a:r>
            <a:endParaRPr lang="en-US" sz="2400" dirty="0"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231668-FBB3-00D8-6F93-7278E1E10E30}"/>
              </a:ext>
            </a:extLst>
          </p:cNvPr>
          <p:cNvSpPr txBox="1"/>
          <p:nvPr/>
        </p:nvSpPr>
        <p:spPr>
          <a:xfrm>
            <a:off x="4594853" y="3942376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mRNA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4779E3-3882-91FE-F864-9A58374EE6D9}"/>
              </a:ext>
            </a:extLst>
          </p:cNvPr>
          <p:cNvSpPr txBox="1"/>
          <p:nvPr/>
        </p:nvSpPr>
        <p:spPr>
          <a:xfrm>
            <a:off x="6849286" y="4161404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CHIP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7E11C4-BB14-5803-82C9-3B77B3E7FB83}"/>
              </a:ext>
            </a:extLst>
          </p:cNvPr>
          <p:cNvSpPr txBox="1"/>
          <p:nvPr/>
        </p:nvSpPr>
        <p:spPr>
          <a:xfrm>
            <a:off x="4921335" y="4692234"/>
            <a:ext cx="169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de-D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9F40A0-6744-812A-63AE-BFEEB0AB6C1E}"/>
              </a:ext>
            </a:extLst>
          </p:cNvPr>
          <p:cNvSpPr txBox="1"/>
          <p:nvPr/>
        </p:nvSpPr>
        <p:spPr>
          <a:xfrm>
            <a:off x="1085579" y="5779334"/>
            <a:ext cx="2474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dirty="0">
                <a:latin typeface="+mj-lt"/>
              </a:rPr>
              <a:t>proteomics</a:t>
            </a:r>
            <a:endParaRPr lang="en-US" sz="2400" dirty="0">
              <a:latin typeface="+mj-lt"/>
            </a:endParaRPr>
          </a:p>
        </p:txBody>
      </p: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E1002D99-BF6F-8A6A-6FA9-9C17E1423CF4}"/>
              </a:ext>
            </a:extLst>
          </p:cNvPr>
          <p:cNvCxnSpPr>
            <a:stCxn id="10" idx="2"/>
          </p:cNvCxnSpPr>
          <p:nvPr/>
        </p:nvCxnSpPr>
        <p:spPr>
          <a:xfrm rot="10800000" flipH="1" flipV="1">
            <a:off x="4979914" y="3175461"/>
            <a:ext cx="273155" cy="382773"/>
          </a:xfrm>
          <a:prstGeom prst="curvedConnector4">
            <a:avLst>
              <a:gd name="adj1" fmla="val -83689"/>
              <a:gd name="adj2" fmla="val 75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7403F57D-6C68-6A67-BE8C-056B0E46C607}"/>
              </a:ext>
            </a:extLst>
          </p:cNvPr>
          <p:cNvCxnSpPr>
            <a:stCxn id="10" idx="6"/>
          </p:cNvCxnSpPr>
          <p:nvPr/>
        </p:nvCxnSpPr>
        <p:spPr>
          <a:xfrm>
            <a:off x="5362688" y="3175462"/>
            <a:ext cx="505089" cy="13349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4BCC7239-237E-3FC3-92C8-523396561851}"/>
              </a:ext>
            </a:extLst>
          </p:cNvPr>
          <p:cNvCxnSpPr/>
          <p:nvPr/>
        </p:nvCxnSpPr>
        <p:spPr>
          <a:xfrm rot="10800000" flipV="1">
            <a:off x="5635843" y="3422143"/>
            <a:ext cx="1323462" cy="22739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6A080EF6-219E-9EA4-5CD5-A07293A23D9B}"/>
              </a:ext>
            </a:extLst>
          </p:cNvPr>
          <p:cNvCxnSpPr/>
          <p:nvPr/>
        </p:nvCxnSpPr>
        <p:spPr>
          <a:xfrm rot="16200000" flipV="1">
            <a:off x="6150717" y="2290664"/>
            <a:ext cx="1051596" cy="98499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46DA116A-6554-6898-B3DF-A81646E08A97}"/>
              </a:ext>
            </a:extLst>
          </p:cNvPr>
          <p:cNvCxnSpPr/>
          <p:nvPr/>
        </p:nvCxnSpPr>
        <p:spPr>
          <a:xfrm rot="16200000" flipV="1">
            <a:off x="5215712" y="2675531"/>
            <a:ext cx="1009277" cy="48394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D7B840EA-FD46-2D8C-6110-C42E6B23A162}"/>
              </a:ext>
            </a:extLst>
          </p:cNvPr>
          <p:cNvCxnSpPr/>
          <p:nvPr/>
        </p:nvCxnSpPr>
        <p:spPr>
          <a:xfrm rot="5400000" flipH="1" flipV="1">
            <a:off x="5470626" y="2820352"/>
            <a:ext cx="1177470" cy="17989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FCCA6CDA-4618-4CEB-C7CC-39B3D29635F5}"/>
              </a:ext>
            </a:extLst>
          </p:cNvPr>
          <p:cNvCxnSpPr>
            <a:stCxn id="38" idx="2"/>
            <a:endCxn id="16" idx="6"/>
          </p:cNvCxnSpPr>
          <p:nvPr/>
        </p:nvCxnSpPr>
        <p:spPr>
          <a:xfrm rot="5400000">
            <a:off x="5093204" y="3946099"/>
            <a:ext cx="639784" cy="11499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42C717ED-9491-DA8A-1F8E-846EB1A1C68D}"/>
              </a:ext>
            </a:extLst>
          </p:cNvPr>
          <p:cNvCxnSpPr>
            <a:cxnSpLocks/>
            <a:endCxn id="38" idx="2"/>
          </p:cNvCxnSpPr>
          <p:nvPr/>
        </p:nvCxnSpPr>
        <p:spPr>
          <a:xfrm rot="5400000">
            <a:off x="4808447" y="2624368"/>
            <a:ext cx="1721479" cy="397189"/>
          </a:xfrm>
          <a:prstGeom prst="curvedConnector5">
            <a:avLst>
              <a:gd name="adj1" fmla="val 39273"/>
              <a:gd name="adj2" fmla="val 7898"/>
              <a:gd name="adj3" fmla="val 8486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BD91841D-066A-928E-DC24-E3219D929841}"/>
              </a:ext>
            </a:extLst>
          </p:cNvPr>
          <p:cNvCxnSpPr>
            <a:stCxn id="16" idx="2"/>
            <a:endCxn id="22" idx="2"/>
          </p:cNvCxnSpPr>
          <p:nvPr/>
        </p:nvCxnSpPr>
        <p:spPr>
          <a:xfrm rot="10800000" flipV="1">
            <a:off x="4972827" y="4323486"/>
            <a:ext cx="12700" cy="120916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8306E176-DA51-8497-44D4-FF0BC44F6102}"/>
              </a:ext>
            </a:extLst>
          </p:cNvPr>
          <p:cNvCxnSpPr>
            <a:stCxn id="37" idx="2"/>
            <a:endCxn id="16" idx="6"/>
          </p:cNvCxnSpPr>
          <p:nvPr/>
        </p:nvCxnSpPr>
        <p:spPr>
          <a:xfrm rot="5400000">
            <a:off x="5784285" y="3160423"/>
            <a:ext cx="734378" cy="159174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76065F8E-D6AB-51D3-9930-E0628405AC32}"/>
              </a:ext>
            </a:extLst>
          </p:cNvPr>
          <p:cNvCxnSpPr>
            <a:endCxn id="20" idx="2"/>
          </p:cNvCxnSpPr>
          <p:nvPr/>
        </p:nvCxnSpPr>
        <p:spPr>
          <a:xfrm>
            <a:off x="5245982" y="4456983"/>
            <a:ext cx="524956" cy="5789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63BA9FE5-8C78-254A-96D6-5285CD27306A}"/>
              </a:ext>
            </a:extLst>
          </p:cNvPr>
          <p:cNvCxnSpPr>
            <a:stCxn id="18" idx="6"/>
            <a:endCxn id="20" idx="2"/>
          </p:cNvCxnSpPr>
          <p:nvPr/>
        </p:nvCxnSpPr>
        <p:spPr>
          <a:xfrm flipV="1">
            <a:off x="5628755" y="4514873"/>
            <a:ext cx="142183" cy="2015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Curved 74">
            <a:extLst>
              <a:ext uri="{FF2B5EF4-FFF2-40B4-BE49-F238E27FC236}">
                <a16:creationId xmlns:a16="http://schemas.microsoft.com/office/drawing/2014/main" id="{170BF2B8-E360-C060-E3CA-E4AF60DB2555}"/>
              </a:ext>
            </a:extLst>
          </p:cNvPr>
          <p:cNvCxnSpPr>
            <a:endCxn id="23" idx="5"/>
          </p:cNvCxnSpPr>
          <p:nvPr/>
        </p:nvCxnSpPr>
        <p:spPr>
          <a:xfrm rot="5400000">
            <a:off x="6105152" y="4580145"/>
            <a:ext cx="904595" cy="88464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C258A5F2-98FD-2889-F3A7-475CBAB76BB3}"/>
              </a:ext>
            </a:extLst>
          </p:cNvPr>
          <p:cNvCxnSpPr/>
          <p:nvPr/>
        </p:nvCxnSpPr>
        <p:spPr>
          <a:xfrm rot="5400000" flipH="1" flipV="1">
            <a:off x="4962507" y="3340661"/>
            <a:ext cx="3281296" cy="98690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2A5D2423-B57B-6769-AAE1-5243479673CA}"/>
              </a:ext>
            </a:extLst>
          </p:cNvPr>
          <p:cNvCxnSpPr>
            <a:stCxn id="23" idx="6"/>
          </p:cNvCxnSpPr>
          <p:nvPr/>
        </p:nvCxnSpPr>
        <p:spPr>
          <a:xfrm flipV="1">
            <a:off x="6115129" y="1929154"/>
            <a:ext cx="38578" cy="354560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itle 1">
            <a:extLst>
              <a:ext uri="{FF2B5EF4-FFF2-40B4-BE49-F238E27FC236}">
                <a16:creationId xmlns:a16="http://schemas.microsoft.com/office/drawing/2014/main" id="{E46C57FC-3876-A930-4E8A-1259993876CF}"/>
              </a:ext>
            </a:extLst>
          </p:cNvPr>
          <p:cNvSpPr txBox="1">
            <a:spLocks/>
          </p:cNvSpPr>
          <p:nvPr/>
        </p:nvSpPr>
        <p:spPr>
          <a:xfrm>
            <a:off x="1124642" y="0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Complex System Biology </a:t>
            </a:r>
          </a:p>
        </p:txBody>
      </p:sp>
    </p:spTree>
    <p:extLst>
      <p:ext uri="{BB962C8B-B14F-4D97-AF65-F5344CB8AC3E}">
        <p14:creationId xmlns:p14="http://schemas.microsoft.com/office/powerpoint/2010/main" val="172660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0620B-126F-1A2B-4786-8E26230EE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E71908C-F0F6-530A-8481-5F063C5FB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31" y="822691"/>
            <a:ext cx="10964738" cy="579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1DF5260-8A54-A934-FA4C-13A6DE850B5F}"/>
              </a:ext>
            </a:extLst>
          </p:cNvPr>
          <p:cNvSpPr txBox="1">
            <a:spLocks/>
          </p:cNvSpPr>
          <p:nvPr/>
        </p:nvSpPr>
        <p:spPr>
          <a:xfrm>
            <a:off x="1124642" y="0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Spatial Genomics</a:t>
            </a:r>
          </a:p>
        </p:txBody>
      </p:sp>
    </p:spTree>
    <p:extLst>
      <p:ext uri="{BB962C8B-B14F-4D97-AF65-F5344CB8AC3E}">
        <p14:creationId xmlns:p14="http://schemas.microsoft.com/office/powerpoint/2010/main" val="2761752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B01D36E-1106-601E-195C-F73509A28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10" y="2743200"/>
            <a:ext cx="4321628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MGI-Tech.eu">
            <a:extLst>
              <a:ext uri="{FF2B5EF4-FFF2-40B4-BE49-F238E27FC236}">
                <a16:creationId xmlns:a16="http://schemas.microsoft.com/office/drawing/2014/main" id="{0099524D-288B-F7D1-7AA9-42B108DEA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763" y="-633079"/>
            <a:ext cx="9176341" cy="86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9CF904-CAC2-32A9-AB4C-1D0F2C7FC98C}"/>
              </a:ext>
            </a:extLst>
          </p:cNvPr>
          <p:cNvSpPr txBox="1">
            <a:spLocks/>
          </p:cNvSpPr>
          <p:nvPr/>
        </p:nvSpPr>
        <p:spPr>
          <a:xfrm>
            <a:off x="1124642" y="0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Spatial Genomics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BC100-964C-6C9F-3526-3C365E4B0912}"/>
              </a:ext>
            </a:extLst>
          </p:cNvPr>
          <p:cNvSpPr txBox="1"/>
          <p:nvPr/>
        </p:nvSpPr>
        <p:spPr>
          <a:xfrm>
            <a:off x="3009014" y="1369814"/>
            <a:ext cx="2434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Sc-sequencing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120A539-2F54-14A2-7C0B-D669A9A86625}"/>
              </a:ext>
            </a:extLst>
          </p:cNvPr>
          <p:cNvCxnSpPr/>
          <p:nvPr/>
        </p:nvCxnSpPr>
        <p:spPr>
          <a:xfrm>
            <a:off x="5443870" y="1554480"/>
            <a:ext cx="829339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AF3E42-C366-4D94-984B-4DC62D0D76C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443107" y="1600647"/>
            <a:ext cx="883265" cy="1828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B2A8CB-40E2-8DEB-DEF9-64F393FC1838}"/>
              </a:ext>
            </a:extLst>
          </p:cNvPr>
          <p:cNvCxnSpPr/>
          <p:nvPr/>
        </p:nvCxnSpPr>
        <p:spPr>
          <a:xfrm>
            <a:off x="5443107" y="1567180"/>
            <a:ext cx="213414" cy="171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81E93F-FA71-D3C5-E749-6771B797F88E}"/>
              </a:ext>
            </a:extLst>
          </p:cNvPr>
          <p:cNvSpPr txBox="1"/>
          <p:nvPr/>
        </p:nvSpPr>
        <p:spPr>
          <a:xfrm>
            <a:off x="1701210" y="5478967"/>
            <a:ext cx="2434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04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C2762D-5DD1-0A89-371E-9E4D47C97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78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427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49372-9902-8830-DB23-23B324E4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Linux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DDA4-46E7-84D2-CCA2-E383268C8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 err="1">
                <a:solidFill>
                  <a:schemeClr val="tx1"/>
                </a:solidFill>
              </a:rPr>
              <a:t>Why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command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line</a:t>
            </a:r>
            <a:r>
              <a:rPr lang="de-DE" b="1" dirty="0">
                <a:solidFill>
                  <a:schemeClr val="tx1"/>
                </a:solidFill>
              </a:rPr>
              <a:t> and not GUI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688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9D2C73-08B0-4F6B-A8E9-4651E6BDB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8DB88C-7EF2-487C-85D1-848F61F13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4DF20-EBA1-27EF-62F4-D2D96285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37" r="1" b="1"/>
          <a:stretch>
            <a:fillRect/>
          </a:stretch>
        </p:blipFill>
        <p:spPr>
          <a:xfrm>
            <a:off x="643467" y="643467"/>
            <a:ext cx="5372099" cy="557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C6C63E-A3D3-7E27-4D8A-5329F6B2DA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54" r="1" b="6818"/>
          <a:stretch>
            <a:fillRect/>
          </a:stretch>
        </p:blipFill>
        <p:spPr>
          <a:xfrm>
            <a:off x="6176432" y="643467"/>
            <a:ext cx="537210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4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73248-45BA-F843-4CD0-0EB56D241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A511026-8542-4AC0-9F06-134A70850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46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A2E787-83B3-8B46-7728-0EFA9C1D47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CF9AAB-097B-DEC4-7E43-CF57C734A20C}"/>
              </a:ext>
            </a:extLst>
          </p:cNvPr>
          <p:cNvSpPr/>
          <p:nvPr/>
        </p:nvSpPr>
        <p:spPr>
          <a:xfrm>
            <a:off x="309625" y="4117791"/>
            <a:ext cx="8439168" cy="1270652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to analyse all this data ?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DB2D01-7F80-4E57-F093-801B99CB3E9A}"/>
              </a:ext>
            </a:extLst>
          </p:cNvPr>
          <p:cNvSpPr/>
          <p:nvPr/>
        </p:nvSpPr>
        <p:spPr>
          <a:xfrm>
            <a:off x="309625" y="139695"/>
            <a:ext cx="7579012" cy="250854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noProof="1">
                <a:solidFill>
                  <a:schemeClr val="tx1"/>
                </a:solidFill>
              </a:rPr>
              <a:t>Novaseq X plus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noProof="1">
                <a:solidFill>
                  <a:schemeClr val="tx1"/>
                </a:solidFill>
              </a:rPr>
              <a:t>1 run B25 flow cell =&gt; 25 Tb  (~40h)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 noProof="1">
                <a:solidFill>
                  <a:schemeClr val="tx1"/>
                </a:solidFill>
              </a:rPr>
              <a:t>~ +4000 Movie HD ~ 200 Million books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067F57-9F04-A550-705E-A6C76661E3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rcRect t="11993" r="3" b="13258"/>
          <a:stretch>
            <a:fillRect/>
          </a:stretch>
        </p:blipFill>
        <p:spPr>
          <a:xfrm>
            <a:off x="8406311" y="2259211"/>
            <a:ext cx="4201922" cy="3717159"/>
          </a:xfrm>
          <a:custGeom>
            <a:avLst/>
            <a:gdLst/>
            <a:ahLst/>
            <a:cxnLst/>
            <a:rect l="l" t="t" r="r" b="b"/>
            <a:pathLst>
              <a:path w="6323162" h="5593660">
                <a:moveTo>
                  <a:pt x="2177447" y="0"/>
                </a:moveTo>
                <a:lnTo>
                  <a:pt x="4826316" y="0"/>
                </a:lnTo>
                <a:lnTo>
                  <a:pt x="4971508" y="75777"/>
                </a:lnTo>
                <a:cubicBezTo>
                  <a:pt x="5197582" y="210111"/>
                  <a:pt x="5400550" y="381325"/>
                  <a:pt x="5577109" y="586873"/>
                </a:cubicBezTo>
                <a:cubicBezTo>
                  <a:pt x="6058235" y="1147205"/>
                  <a:pt x="6323162" y="1943505"/>
                  <a:pt x="6323162" y="2829148"/>
                </a:cubicBezTo>
                <a:cubicBezTo>
                  <a:pt x="6323162" y="3182494"/>
                  <a:pt x="6220623" y="3466081"/>
                  <a:pt x="5990836" y="3748729"/>
                </a:cubicBezTo>
                <a:cubicBezTo>
                  <a:pt x="5750480" y="4044392"/>
                  <a:pt x="5389327" y="4316711"/>
                  <a:pt x="5006899" y="4604992"/>
                </a:cubicBezTo>
                <a:cubicBezTo>
                  <a:pt x="4936343" y="4658116"/>
                  <a:pt x="4863453" y="4713117"/>
                  <a:pt x="4790566" y="4768788"/>
                </a:cubicBezTo>
                <a:cubicBezTo>
                  <a:pt x="4138128" y="5267012"/>
                  <a:pt x="3661945" y="5593660"/>
                  <a:pt x="3012943" y="5593660"/>
                </a:cubicBezTo>
                <a:cubicBezTo>
                  <a:pt x="2024062" y="5593660"/>
                  <a:pt x="1323723" y="5192693"/>
                  <a:pt x="671286" y="4252856"/>
                </a:cubicBezTo>
                <a:cubicBezTo>
                  <a:pt x="585906" y="4129842"/>
                  <a:pt x="502446" y="4017964"/>
                  <a:pt x="421733" y="3909839"/>
                </a:cubicBezTo>
                <a:cubicBezTo>
                  <a:pt x="254471" y="3685679"/>
                  <a:pt x="130655" y="3515312"/>
                  <a:pt x="48655" y="3351082"/>
                </a:cubicBezTo>
                <a:lnTo>
                  <a:pt x="0" y="3239820"/>
                </a:lnTo>
                <a:lnTo>
                  <a:pt x="0" y="2248150"/>
                </a:lnTo>
                <a:lnTo>
                  <a:pt x="1658" y="2239520"/>
                </a:lnTo>
                <a:cubicBezTo>
                  <a:pt x="51657" y="2045089"/>
                  <a:pt x="126469" y="1853225"/>
                  <a:pt x="225714" y="1665285"/>
                </a:cubicBezTo>
                <a:cubicBezTo>
                  <a:pt x="419948" y="1297585"/>
                  <a:pt x="697641" y="961011"/>
                  <a:pt x="1050970" y="665214"/>
                </a:cubicBezTo>
                <a:cubicBezTo>
                  <a:pt x="1311437" y="447090"/>
                  <a:pt x="1608578" y="257641"/>
                  <a:pt x="1923692" y="107844"/>
                </a:cubicBez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3DF644-5FF0-47F1-71CD-214A05E81E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283" r="3" b="9500"/>
          <a:stretch>
            <a:fillRect/>
          </a:stretch>
        </p:blipFill>
        <p:spPr>
          <a:xfrm>
            <a:off x="7714014" y="209437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67054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4D216-D9A5-CC56-71C9-9544F5B23F8B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You need more resources than what is available on your laptop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490757-BE75-B509-B229-17A28CD06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98" y="1675227"/>
            <a:ext cx="1065260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62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C220B-2892-12B2-67EC-72039028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B4A374-C465-E1AE-111E-01F0D37A3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124" r="19433" b="11672"/>
          <a:stretch>
            <a:fillRect/>
          </a:stretch>
        </p:blipFill>
        <p:spPr>
          <a:xfrm>
            <a:off x="5665513" y="3352532"/>
            <a:ext cx="6526488" cy="3505458"/>
          </a:xfrm>
          <a:custGeom>
            <a:avLst/>
            <a:gdLst/>
            <a:ahLst/>
            <a:cxnLst/>
            <a:rect l="l" t="t" r="r" b="b"/>
            <a:pathLst>
              <a:path w="4397481" h="3351888">
                <a:moveTo>
                  <a:pt x="0" y="0"/>
                </a:moveTo>
                <a:lnTo>
                  <a:pt x="4397481" y="0"/>
                </a:lnTo>
                <a:lnTo>
                  <a:pt x="4397481" y="3351888"/>
                </a:lnTo>
                <a:lnTo>
                  <a:pt x="1552363" y="3351888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64AE99-EB29-3A19-8ABE-960F89A6B0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58" t="9860" r="14677" b="6756"/>
          <a:stretch>
            <a:fillRect/>
          </a:stretch>
        </p:blipFill>
        <p:spPr>
          <a:xfrm>
            <a:off x="4855372" y="52175"/>
            <a:ext cx="7298920" cy="3248193"/>
          </a:xfrm>
          <a:custGeom>
            <a:avLst/>
            <a:gdLst/>
            <a:ahLst/>
            <a:cxnLst/>
            <a:rect l="l" t="t" r="r" b="b"/>
            <a:pathLst>
              <a:path w="6023811" h="3346404">
                <a:moveTo>
                  <a:pt x="0" y="0"/>
                </a:moveTo>
                <a:lnTo>
                  <a:pt x="6023811" y="0"/>
                </a:lnTo>
                <a:lnTo>
                  <a:pt x="6023811" y="3346404"/>
                </a:lnTo>
                <a:lnTo>
                  <a:pt x="1549824" y="3346404"/>
                </a:lnTo>
                <a:close/>
              </a:path>
            </a:pathLst>
          </a:cu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F00A0B-21B5-B992-F2FD-7DF2FB15E4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633"/>
          <a:stretch>
            <a:fillRect/>
          </a:stretch>
        </p:blipFill>
        <p:spPr>
          <a:xfrm>
            <a:off x="20" y="10"/>
            <a:ext cx="8408689" cy="6863475"/>
          </a:xfrm>
          <a:custGeom>
            <a:avLst/>
            <a:gdLst/>
            <a:ahLst/>
            <a:cxnLst/>
            <a:rect l="l" t="t" r="r" b="b"/>
            <a:pathLst>
              <a:path w="9154693" h="6863485">
                <a:moveTo>
                  <a:pt x="0" y="0"/>
                </a:moveTo>
                <a:lnTo>
                  <a:pt x="5976000" y="0"/>
                </a:lnTo>
                <a:lnTo>
                  <a:pt x="9154693" y="6863485"/>
                </a:lnTo>
                <a:lnTo>
                  <a:pt x="0" y="6863485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14229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Widescreen</PresentationFormat>
  <Paragraphs>45</Paragraphs>
  <Slides>15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Bioinformatics and Genomics application in medicine Dr. Yassine Kasmi</vt:lpstr>
      <vt:lpstr>Key Topics in Medical Bioinformatics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Linux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Yassine Kasmi</dc:creator>
  <cp:lastModifiedBy>Yassine Kasmi</cp:lastModifiedBy>
  <cp:revision>1</cp:revision>
  <dcterms:created xsi:type="dcterms:W3CDTF">2026-04-03T19:04:04Z</dcterms:created>
  <dcterms:modified xsi:type="dcterms:W3CDTF">2026-04-03T22:13:50Z</dcterms:modified>
</cp:coreProperties>
</file>