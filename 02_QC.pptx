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63" r:id="rId4"/>
    <p:sldId id="264" r:id="rId5"/>
    <p:sldId id="259" r:id="rId6"/>
    <p:sldId id="261" r:id="rId7"/>
    <p:sldId id="260" r:id="rId8"/>
    <p:sldId id="268" r:id="rId9"/>
    <p:sldId id="258" r:id="rId10"/>
    <p:sldId id="262" r:id="rId11"/>
    <p:sldId id="267" r:id="rId12"/>
    <p:sldId id="265"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536E97-3A46-445E-9633-E3479B8E730A}" v="1" dt="2026-04-30T19:13:02.0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3" autoAdjust="0"/>
    <p:restoredTop sz="94660"/>
  </p:normalViewPr>
  <p:slideViewPr>
    <p:cSldViewPr snapToGrid="0" showGuides="1">
      <p:cViewPr varScale="1">
        <p:scale>
          <a:sx n="53" d="100"/>
          <a:sy n="53" d="100"/>
        </p:scale>
        <p:origin x="566" y="62"/>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sine Kasmi" userId="fdf8079a848cfec2" providerId="LiveId" clId="{A110CD56-9457-4CDC-B8D7-AAF74BDF5181}"/>
    <pc:docChg chg="addSld modSld">
      <pc:chgData name="Yassine Kasmi" userId="fdf8079a848cfec2" providerId="LiveId" clId="{A110CD56-9457-4CDC-B8D7-AAF74BDF5181}" dt="2026-05-04T15:22:46.273" v="10" actId="680"/>
      <pc:docMkLst>
        <pc:docMk/>
      </pc:docMkLst>
      <pc:sldChg chg="addSp new mod modShow">
        <pc:chgData name="Yassine Kasmi" userId="fdf8079a848cfec2" providerId="LiveId" clId="{A110CD56-9457-4CDC-B8D7-AAF74BDF5181}" dt="2026-05-04T14:16:08.220" v="9" actId="729"/>
        <pc:sldMkLst>
          <pc:docMk/>
          <pc:sldMk cId="870845586" sldId="265"/>
        </pc:sldMkLst>
        <pc:spChg chg="add">
          <ac:chgData name="Yassine Kasmi" userId="fdf8079a848cfec2" providerId="LiveId" clId="{A110CD56-9457-4CDC-B8D7-AAF74BDF5181}" dt="2026-04-04T21:24:50.902" v="1" actId="22"/>
          <ac:spMkLst>
            <pc:docMk/>
            <pc:sldMk cId="870845586" sldId="265"/>
            <ac:spMk id="3" creationId="{603C3EDA-221F-AE8A-14D5-9DC0880DF068}"/>
          </ac:spMkLst>
        </pc:spChg>
      </pc:sldChg>
      <pc:sldChg chg="new">
        <pc:chgData name="Yassine Kasmi" userId="fdf8079a848cfec2" providerId="LiveId" clId="{A110CD56-9457-4CDC-B8D7-AAF74BDF5181}" dt="2026-04-04T21:24:53.051" v="2" actId="680"/>
        <pc:sldMkLst>
          <pc:docMk/>
          <pc:sldMk cId="1513161609" sldId="266"/>
        </pc:sldMkLst>
      </pc:sldChg>
      <pc:sldChg chg="addSp delSp modSp new">
        <pc:chgData name="Yassine Kasmi" userId="fdf8079a848cfec2" providerId="LiveId" clId="{A110CD56-9457-4CDC-B8D7-AAF74BDF5181}" dt="2026-04-05T06:46:20.655" v="8" actId="478"/>
        <pc:sldMkLst>
          <pc:docMk/>
          <pc:sldMk cId="2501229363" sldId="267"/>
        </pc:sldMkLst>
        <pc:picChg chg="add">
          <ac:chgData name="Yassine Kasmi" userId="fdf8079a848cfec2" providerId="LiveId" clId="{A110CD56-9457-4CDC-B8D7-AAF74BDF5181}" dt="2026-04-05T06:45:43.673" v="4"/>
          <ac:picMkLst>
            <pc:docMk/>
            <pc:sldMk cId="2501229363" sldId="267"/>
            <ac:picMk id="1026" creationId="{4D24AC17-CDC0-D8ED-FDA7-C1591D8CD264}"/>
          </ac:picMkLst>
        </pc:picChg>
      </pc:sldChg>
      <pc:sldChg chg="new">
        <pc:chgData name="Yassine Kasmi" userId="fdf8079a848cfec2" providerId="LiveId" clId="{A110CD56-9457-4CDC-B8D7-AAF74BDF5181}" dt="2026-05-04T15:22:46.273" v="10" actId="680"/>
        <pc:sldMkLst>
          <pc:docMk/>
          <pc:sldMk cId="3797019978"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8B22D5-4AEB-445F-9CE7-2E8954DA05E1}" type="datetimeFigureOut">
              <a:rPr lang="en-GB" smtClean="0"/>
              <a:t>04/05/2026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95CA27-854A-4F67-82E4-3167AB381797}" type="slidenum">
              <a:rPr lang="en-GB" smtClean="0"/>
              <a:t>‹#›</a:t>
            </a:fld>
            <a:endParaRPr lang="en-GB"/>
          </a:p>
        </p:txBody>
      </p:sp>
    </p:spTree>
    <p:extLst>
      <p:ext uri="{BB962C8B-B14F-4D97-AF65-F5344CB8AC3E}">
        <p14:creationId xmlns:p14="http://schemas.microsoft.com/office/powerpoint/2010/main" val="585117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GB" sz="1200" kern="1200" dirty="0">
                <a:solidFill>
                  <a:schemeClr val="tx1"/>
                </a:solidFill>
                <a:effectLst/>
                <a:latin typeface="+mn-lt"/>
                <a:ea typeface="+mn-ea"/>
                <a:cs typeface="+mn-cs"/>
              </a:rPr>
              <a:t>Based on the image provided in </a:t>
            </a:r>
            <a:r>
              <a:rPr lang="en-GB" sz="1200" b="1" kern="1200" dirty="0">
                <a:solidFill>
                  <a:schemeClr val="tx1"/>
                </a:solidFill>
                <a:effectLst/>
                <a:latin typeface="+mn-lt"/>
                <a:ea typeface="+mn-ea"/>
                <a:cs typeface="+mn-cs"/>
              </a:rPr>
              <a:t>Picture1.png</a:t>
            </a:r>
            <a:r>
              <a:rPr lang="en-GB" sz="1200" kern="1200" dirty="0">
                <a:solidFill>
                  <a:schemeClr val="tx1"/>
                </a:solidFill>
                <a:effectLst/>
                <a:latin typeface="+mn-lt"/>
                <a:ea typeface="+mn-ea"/>
                <a:cs typeface="+mn-cs"/>
              </a:rPr>
              <a:t>, here is a breakdown of each column in the </a:t>
            </a:r>
            <a:r>
              <a:rPr lang="en-GB" sz="1200" b="1" kern="1200" dirty="0">
                <a:solidFill>
                  <a:schemeClr val="tx1"/>
                </a:solidFill>
                <a:effectLst/>
                <a:latin typeface="+mn-lt"/>
                <a:ea typeface="+mn-ea"/>
                <a:cs typeface="+mn-cs"/>
              </a:rPr>
              <a:t>Per Read Metrics</a:t>
            </a:r>
            <a:r>
              <a:rPr lang="en-GB" sz="1200" kern="1200" dirty="0">
                <a:solidFill>
                  <a:schemeClr val="tx1"/>
                </a:solidFill>
                <a:effectLst/>
                <a:latin typeface="+mn-lt"/>
                <a:ea typeface="+mn-ea"/>
                <a:cs typeface="+mn-cs"/>
              </a:rPr>
              <a:t> and </a:t>
            </a:r>
            <a:r>
              <a:rPr lang="en-GB" sz="1200" b="1" kern="1200" dirty="0">
                <a:solidFill>
                  <a:schemeClr val="tx1"/>
                </a:solidFill>
                <a:effectLst/>
                <a:latin typeface="+mn-lt"/>
                <a:ea typeface="+mn-ea"/>
                <a:cs typeface="+mn-cs"/>
              </a:rPr>
              <a:t>Per Lane Metrics</a:t>
            </a:r>
            <a:r>
              <a:rPr lang="en-GB" sz="1200" kern="1200" dirty="0">
                <a:solidFill>
                  <a:schemeClr val="tx1"/>
                </a:solidFill>
                <a:effectLst/>
                <a:latin typeface="+mn-lt"/>
                <a:ea typeface="+mn-ea"/>
                <a:cs typeface="+mn-cs"/>
              </a:rPr>
              <a:t> tables and how they impact the assessment of your run quality:</a:t>
            </a:r>
          </a:p>
          <a:p>
            <a:pPr rtl="0"/>
            <a:r>
              <a:rPr lang="en-GB" sz="1200" b="1" kern="1200" dirty="0">
                <a:solidFill>
                  <a:schemeClr val="tx1"/>
                </a:solidFill>
                <a:effectLst/>
                <a:latin typeface="+mn-lt"/>
                <a:ea typeface="+mn-ea"/>
                <a:cs typeface="+mn-cs"/>
              </a:rPr>
              <a:t>1. Cycles</a:t>
            </a:r>
          </a:p>
          <a:p>
            <a:pPr rtl="0"/>
            <a:r>
              <a:rPr lang="en-GB" sz="1200" b="1" kern="1200" dirty="0">
                <a:solidFill>
                  <a:schemeClr val="tx1"/>
                </a:solidFill>
                <a:effectLst/>
                <a:latin typeface="+mn-lt"/>
                <a:ea typeface="+mn-ea"/>
                <a:cs typeface="+mn-cs"/>
              </a:rPr>
              <a:t>Data in Picture1.png:</a:t>
            </a:r>
            <a:r>
              <a:rPr lang="en-GB" sz="1200" kern="1200" dirty="0">
                <a:solidFill>
                  <a:schemeClr val="tx1"/>
                </a:solidFill>
                <a:effectLst/>
                <a:latin typeface="+mn-lt"/>
                <a:ea typeface="+mn-ea"/>
                <a:cs typeface="+mn-cs"/>
              </a:rPr>
              <a:t> Read 1 and Read 3 are </a:t>
            </a:r>
            <a:r>
              <a:rPr lang="en-GB" sz="1200" b="1" kern="1200" dirty="0">
                <a:solidFill>
                  <a:schemeClr val="tx1"/>
                </a:solidFill>
                <a:effectLst/>
                <a:latin typeface="+mn-lt"/>
                <a:ea typeface="+mn-ea"/>
                <a:cs typeface="+mn-cs"/>
              </a:rPr>
              <a:t>151 cycles</a:t>
            </a:r>
            <a:r>
              <a:rPr lang="en-GB" sz="1200" kern="1200" dirty="0">
                <a:solidFill>
                  <a:schemeClr val="tx1"/>
                </a:solidFill>
                <a:effectLst/>
                <a:latin typeface="+mn-lt"/>
                <a:ea typeface="+mn-ea"/>
                <a:cs typeface="+mn-cs"/>
              </a:rPr>
              <a:t>; Read 2 (I) is </a:t>
            </a:r>
            <a:r>
              <a:rPr lang="en-GB" sz="1200" b="1" kern="1200" dirty="0">
                <a:solidFill>
                  <a:schemeClr val="tx1"/>
                </a:solidFill>
                <a:effectLst/>
                <a:latin typeface="+mn-lt"/>
                <a:ea typeface="+mn-ea"/>
                <a:cs typeface="+mn-cs"/>
              </a:rPr>
              <a:t>6 cycles</a:t>
            </a:r>
            <a:r>
              <a:rPr lang="en-GB" sz="1200" kern="1200" dirty="0">
                <a:solidFill>
                  <a:schemeClr val="tx1"/>
                </a:solidFill>
                <a:effectLst/>
                <a:latin typeface="+mn-lt"/>
                <a:ea typeface="+mn-ea"/>
                <a:cs typeface="+mn-cs"/>
              </a:rPr>
              <a:t>.</a:t>
            </a:r>
          </a:p>
          <a:p>
            <a:pPr rtl="0"/>
            <a:r>
              <a:rPr lang="en-GB" sz="1200" b="1" kern="1200" dirty="0">
                <a:solidFill>
                  <a:schemeClr val="tx1"/>
                </a:solidFill>
                <a:effectLst/>
                <a:latin typeface="+mn-lt"/>
                <a:ea typeface="+mn-ea"/>
                <a:cs typeface="+mn-cs"/>
              </a:rPr>
              <a:t>Importance:</a:t>
            </a:r>
            <a:r>
              <a:rPr lang="en-GB" sz="1200" kern="1200" dirty="0">
                <a:solidFill>
                  <a:schemeClr val="tx1"/>
                </a:solidFill>
                <a:effectLst/>
                <a:latin typeface="+mn-lt"/>
                <a:ea typeface="+mn-ea"/>
                <a:cs typeface="+mn-cs"/>
              </a:rPr>
              <a:t> This represents the number of bases sequenced for each read. It confirms that the machine completed the number of cycles defined in your sample sheet.</a:t>
            </a:r>
          </a:p>
          <a:p>
            <a:pPr rtl="0"/>
            <a:r>
              <a:rPr lang="en-GB" sz="1200" b="1" kern="1200" dirty="0">
                <a:solidFill>
                  <a:schemeClr val="tx1"/>
                </a:solidFill>
                <a:effectLst/>
                <a:latin typeface="+mn-lt"/>
                <a:ea typeface="+mn-ea"/>
                <a:cs typeface="+mn-cs"/>
              </a:rPr>
              <a:t>2. Yield</a:t>
            </a:r>
          </a:p>
          <a:p>
            <a:pPr rtl="0"/>
            <a:r>
              <a:rPr lang="en-GB" sz="1200" b="1" kern="1200" dirty="0">
                <a:solidFill>
                  <a:schemeClr val="tx1"/>
                </a:solidFill>
                <a:effectLst/>
                <a:latin typeface="+mn-lt"/>
                <a:ea typeface="+mn-ea"/>
                <a:cs typeface="+mn-cs"/>
              </a:rPr>
              <a:t>Data in Picture1.png:</a:t>
            </a:r>
            <a:r>
              <a:rPr lang="en-GB" sz="1200" kern="1200" dirty="0">
                <a:solidFill>
                  <a:schemeClr val="tx1"/>
                </a:solidFill>
                <a:effectLst/>
                <a:latin typeface="+mn-lt"/>
                <a:ea typeface="+mn-ea"/>
                <a:cs typeface="+mn-cs"/>
              </a:rPr>
              <a:t> The total yield is </a:t>
            </a:r>
            <a:r>
              <a:rPr lang="en-GB" sz="1200" b="1" kern="1200" dirty="0">
                <a:solidFill>
                  <a:schemeClr val="tx1"/>
                </a:solidFill>
                <a:effectLst/>
                <a:latin typeface="+mn-lt"/>
                <a:ea typeface="+mn-ea"/>
                <a:cs typeface="+mn-cs"/>
              </a:rPr>
              <a:t>3.26 </a:t>
            </a:r>
            <a:r>
              <a:rPr lang="en-GB" sz="1200" b="1" kern="1200" dirty="0" err="1">
                <a:solidFill>
                  <a:schemeClr val="tx1"/>
                </a:solidFill>
                <a:effectLst/>
                <a:latin typeface="+mn-lt"/>
                <a:ea typeface="+mn-ea"/>
                <a:cs typeface="+mn-cs"/>
              </a:rPr>
              <a:t>Gbp</a:t>
            </a:r>
            <a:r>
              <a:rPr lang="en-GB" sz="1200" kern="1200" dirty="0">
                <a:solidFill>
                  <a:schemeClr val="tx1"/>
                </a:solidFill>
                <a:effectLst/>
                <a:latin typeface="+mn-lt"/>
                <a:ea typeface="+mn-ea"/>
                <a:cs typeface="+mn-cs"/>
              </a:rPr>
              <a:t>.</a:t>
            </a:r>
          </a:p>
          <a:p>
            <a:pPr rtl="0"/>
            <a:r>
              <a:rPr lang="en-GB" sz="1200" b="1" kern="1200" dirty="0">
                <a:solidFill>
                  <a:schemeClr val="tx1"/>
                </a:solidFill>
                <a:effectLst/>
                <a:latin typeface="+mn-lt"/>
                <a:ea typeface="+mn-ea"/>
                <a:cs typeface="+mn-cs"/>
              </a:rPr>
              <a:t>Importance:</a:t>
            </a:r>
            <a:r>
              <a:rPr lang="en-GB" sz="1200" kern="1200" dirty="0">
                <a:solidFill>
                  <a:schemeClr val="tx1"/>
                </a:solidFill>
                <a:effectLst/>
                <a:latin typeface="+mn-lt"/>
                <a:ea typeface="+mn-ea"/>
                <a:cs typeface="+mn-cs"/>
              </a:rPr>
              <a:t> This is the total number of bases generated that passed filter (PF). It determines if you have enough raw data to meet the coverage requirements for your specific experiment.</a:t>
            </a:r>
          </a:p>
          <a:p>
            <a:pPr rtl="0"/>
            <a:r>
              <a:rPr lang="en-GB" sz="1200" b="1" kern="1200" dirty="0">
                <a:solidFill>
                  <a:schemeClr val="tx1"/>
                </a:solidFill>
                <a:effectLst/>
                <a:latin typeface="+mn-lt"/>
                <a:ea typeface="+mn-ea"/>
                <a:cs typeface="+mn-cs"/>
              </a:rPr>
              <a:t>3. Aligned (%)</a:t>
            </a:r>
          </a:p>
          <a:p>
            <a:pPr rtl="0"/>
            <a:r>
              <a:rPr lang="en-GB" sz="1200" b="1" kern="1200" dirty="0">
                <a:solidFill>
                  <a:schemeClr val="tx1"/>
                </a:solidFill>
                <a:effectLst/>
                <a:latin typeface="+mn-lt"/>
                <a:ea typeface="+mn-ea"/>
                <a:cs typeface="+mn-cs"/>
              </a:rPr>
              <a:t>Data in Picture1.png:</a:t>
            </a:r>
            <a:r>
              <a:rPr lang="en-GB" sz="1200" kern="1200" dirty="0">
                <a:solidFill>
                  <a:schemeClr val="tx1"/>
                </a:solidFill>
                <a:effectLst/>
                <a:latin typeface="+mn-lt"/>
                <a:ea typeface="+mn-ea"/>
                <a:cs typeface="+mn-cs"/>
              </a:rPr>
              <a:t> Read 1 is </a:t>
            </a:r>
            <a:r>
              <a:rPr lang="en-GB" sz="1200" b="1" kern="1200" dirty="0">
                <a:solidFill>
                  <a:schemeClr val="tx1"/>
                </a:solidFill>
                <a:effectLst/>
                <a:latin typeface="+mn-lt"/>
                <a:ea typeface="+mn-ea"/>
                <a:cs typeface="+mn-cs"/>
              </a:rPr>
              <a:t>17.69%</a:t>
            </a:r>
            <a:r>
              <a:rPr lang="en-GB" sz="1200" kern="1200" dirty="0">
                <a:solidFill>
                  <a:schemeClr val="tx1"/>
                </a:solidFill>
                <a:effectLst/>
                <a:latin typeface="+mn-lt"/>
                <a:ea typeface="+mn-ea"/>
                <a:cs typeface="+mn-cs"/>
              </a:rPr>
              <a:t>; Read 3 is </a:t>
            </a:r>
            <a:r>
              <a:rPr lang="en-GB" sz="1200" b="1" kern="1200" dirty="0">
                <a:solidFill>
                  <a:schemeClr val="tx1"/>
                </a:solidFill>
                <a:effectLst/>
                <a:latin typeface="+mn-lt"/>
                <a:ea typeface="+mn-ea"/>
                <a:cs typeface="+mn-cs"/>
              </a:rPr>
              <a:t>17.52%</a:t>
            </a:r>
            <a:r>
              <a:rPr lang="en-GB" sz="1200" kern="1200" dirty="0">
                <a:solidFill>
                  <a:schemeClr val="tx1"/>
                </a:solidFill>
                <a:effectLst/>
                <a:latin typeface="+mn-lt"/>
                <a:ea typeface="+mn-ea"/>
                <a:cs typeface="+mn-cs"/>
              </a:rPr>
              <a:t>; Read 2 (I) is </a:t>
            </a:r>
            <a:r>
              <a:rPr lang="en-GB" sz="1200" b="1" kern="1200" dirty="0">
                <a:solidFill>
                  <a:schemeClr val="tx1"/>
                </a:solidFill>
                <a:effectLst/>
                <a:latin typeface="+mn-lt"/>
                <a:ea typeface="+mn-ea"/>
                <a:cs typeface="+mn-cs"/>
              </a:rPr>
              <a:t>0.00%</a:t>
            </a:r>
            <a:r>
              <a:rPr lang="en-GB" sz="1200" kern="1200" dirty="0">
                <a:solidFill>
                  <a:schemeClr val="tx1"/>
                </a:solidFill>
                <a:effectLst/>
                <a:latin typeface="+mn-lt"/>
                <a:ea typeface="+mn-ea"/>
                <a:cs typeface="+mn-cs"/>
              </a:rPr>
              <a:t>.</a:t>
            </a:r>
          </a:p>
          <a:p>
            <a:pPr rtl="0"/>
            <a:r>
              <a:rPr lang="en-GB" sz="1200" b="1" kern="1200" dirty="0">
                <a:solidFill>
                  <a:schemeClr val="tx1"/>
                </a:solidFill>
                <a:effectLst/>
                <a:latin typeface="+mn-lt"/>
                <a:ea typeface="+mn-ea"/>
                <a:cs typeface="+mn-cs"/>
              </a:rPr>
              <a:t>Importance:</a:t>
            </a:r>
            <a:r>
              <a:rPr lang="en-GB" sz="1200" kern="1200" dirty="0">
                <a:solidFill>
                  <a:schemeClr val="tx1"/>
                </a:solidFill>
                <a:effectLst/>
                <a:latin typeface="+mn-lt"/>
                <a:ea typeface="+mn-ea"/>
                <a:cs typeface="+mn-cs"/>
              </a:rPr>
              <a:t> This shows the percentage of reads that aligned to a </a:t>
            </a:r>
            <a:r>
              <a:rPr lang="en-GB" sz="1200" kern="1200" dirty="0" err="1">
                <a:solidFill>
                  <a:schemeClr val="tx1"/>
                </a:solidFill>
                <a:effectLst/>
                <a:latin typeface="+mn-lt"/>
                <a:ea typeface="+mn-ea"/>
                <a:cs typeface="+mn-cs"/>
              </a:rPr>
              <a:t>PhiX</a:t>
            </a:r>
            <a:r>
              <a:rPr lang="en-GB" sz="1200" kern="1200" dirty="0">
                <a:solidFill>
                  <a:schemeClr val="tx1"/>
                </a:solidFill>
                <a:effectLst/>
                <a:latin typeface="+mn-lt"/>
                <a:ea typeface="+mn-ea"/>
                <a:cs typeface="+mn-cs"/>
              </a:rPr>
              <a:t> control spike-in. Since Index reads are not aligned to a reference, they show 0%. A stable alignment percentage across Read 1 and 3 suggests consistent sequencing quality.</a:t>
            </a:r>
          </a:p>
          <a:p>
            <a:pPr rtl="0"/>
            <a:r>
              <a:rPr lang="en-GB" sz="1200" b="1" kern="1200" dirty="0">
                <a:solidFill>
                  <a:schemeClr val="tx1"/>
                </a:solidFill>
                <a:effectLst/>
                <a:latin typeface="+mn-lt"/>
                <a:ea typeface="+mn-ea"/>
                <a:cs typeface="+mn-cs"/>
              </a:rPr>
              <a:t>4. Error Rate (%)</a:t>
            </a:r>
          </a:p>
          <a:p>
            <a:pPr rtl="0"/>
            <a:r>
              <a:rPr lang="en-GB" sz="1200" b="1" kern="1200" dirty="0">
                <a:solidFill>
                  <a:schemeClr val="tx1"/>
                </a:solidFill>
                <a:effectLst/>
                <a:latin typeface="+mn-lt"/>
                <a:ea typeface="+mn-ea"/>
                <a:cs typeface="+mn-cs"/>
              </a:rPr>
              <a:t>Data in Picture1.png:</a:t>
            </a:r>
            <a:r>
              <a:rPr lang="en-GB" sz="1200" kern="1200" dirty="0">
                <a:solidFill>
                  <a:schemeClr val="tx1"/>
                </a:solidFill>
                <a:effectLst/>
                <a:latin typeface="+mn-lt"/>
                <a:ea typeface="+mn-ea"/>
                <a:cs typeface="+mn-cs"/>
              </a:rPr>
              <a:t> Read 1 is </a:t>
            </a:r>
            <a:r>
              <a:rPr lang="en-GB" sz="1200" b="1" kern="1200" dirty="0">
                <a:solidFill>
                  <a:schemeClr val="tx1"/>
                </a:solidFill>
                <a:effectLst/>
                <a:latin typeface="+mn-lt"/>
                <a:ea typeface="+mn-ea"/>
                <a:cs typeface="+mn-cs"/>
              </a:rPr>
              <a:t>0.53%</a:t>
            </a:r>
            <a:r>
              <a:rPr lang="en-GB" sz="1200" kern="1200" dirty="0">
                <a:solidFill>
                  <a:schemeClr val="tx1"/>
                </a:solidFill>
                <a:effectLst/>
                <a:latin typeface="+mn-lt"/>
                <a:ea typeface="+mn-ea"/>
                <a:cs typeface="+mn-cs"/>
              </a:rPr>
              <a:t> and Read 3 is </a:t>
            </a:r>
            <a:r>
              <a:rPr lang="en-GB" sz="1200" b="1" kern="1200" dirty="0">
                <a:solidFill>
                  <a:schemeClr val="tx1"/>
                </a:solidFill>
                <a:effectLst/>
                <a:latin typeface="+mn-lt"/>
                <a:ea typeface="+mn-ea"/>
                <a:cs typeface="+mn-cs"/>
              </a:rPr>
              <a:t>0.46%</a:t>
            </a:r>
            <a:r>
              <a:rPr lang="en-GB" sz="1200" kern="1200" dirty="0">
                <a:solidFill>
                  <a:schemeClr val="tx1"/>
                </a:solidFill>
                <a:effectLst/>
                <a:latin typeface="+mn-lt"/>
                <a:ea typeface="+mn-ea"/>
                <a:cs typeface="+mn-cs"/>
              </a:rPr>
              <a:t>.</a:t>
            </a:r>
          </a:p>
          <a:p>
            <a:pPr rtl="0"/>
            <a:r>
              <a:rPr lang="en-GB" sz="1200" b="1" kern="1200" dirty="0">
                <a:solidFill>
                  <a:schemeClr val="tx1"/>
                </a:solidFill>
                <a:effectLst/>
                <a:latin typeface="+mn-lt"/>
                <a:ea typeface="+mn-ea"/>
                <a:cs typeface="+mn-cs"/>
              </a:rPr>
              <a:t>Importance:</a:t>
            </a:r>
            <a:r>
              <a:rPr lang="en-GB" sz="1200" kern="1200" dirty="0">
                <a:solidFill>
                  <a:schemeClr val="tx1"/>
                </a:solidFill>
                <a:effectLst/>
                <a:latin typeface="+mn-lt"/>
                <a:ea typeface="+mn-ea"/>
                <a:cs typeface="+mn-cs"/>
              </a:rPr>
              <a:t> This is calculated based on the </a:t>
            </a:r>
            <a:r>
              <a:rPr lang="en-GB" sz="1200" kern="1200" dirty="0" err="1">
                <a:solidFill>
                  <a:schemeClr val="tx1"/>
                </a:solidFill>
                <a:effectLst/>
                <a:latin typeface="+mn-lt"/>
                <a:ea typeface="+mn-ea"/>
                <a:cs typeface="+mn-cs"/>
              </a:rPr>
              <a:t>PhiX</a:t>
            </a:r>
            <a:r>
              <a:rPr lang="en-GB" sz="1200" kern="1200" dirty="0">
                <a:solidFill>
                  <a:schemeClr val="tx1"/>
                </a:solidFill>
                <a:effectLst/>
                <a:latin typeface="+mn-lt"/>
                <a:ea typeface="+mn-ea"/>
                <a:cs typeface="+mn-cs"/>
              </a:rPr>
              <a:t> alignment. In high-quality runs, this should generally be </a:t>
            </a:r>
            <a:r>
              <a:rPr lang="en-GB" sz="1200" b="1" kern="1200" dirty="0">
                <a:solidFill>
                  <a:schemeClr val="tx1"/>
                </a:solidFill>
                <a:effectLst/>
                <a:latin typeface="+mn-lt"/>
                <a:ea typeface="+mn-ea"/>
                <a:cs typeface="+mn-cs"/>
              </a:rPr>
              <a:t>under 1%</a:t>
            </a:r>
            <a:r>
              <a:rPr lang="en-GB" sz="1200" kern="1200" dirty="0">
                <a:solidFill>
                  <a:schemeClr val="tx1"/>
                </a:solidFill>
                <a:effectLst/>
                <a:latin typeface="+mn-lt"/>
                <a:ea typeface="+mn-ea"/>
                <a:cs typeface="+mn-cs"/>
              </a:rPr>
              <a:t>. Your values (~0.5%) indicate a very successful, low-error run.</a:t>
            </a:r>
          </a:p>
          <a:p>
            <a:pPr rtl="0"/>
            <a:r>
              <a:rPr lang="en-GB" sz="1200" b="1" kern="1200" dirty="0">
                <a:solidFill>
                  <a:schemeClr val="tx1"/>
                </a:solidFill>
                <a:effectLst/>
                <a:latin typeface="+mn-lt"/>
                <a:ea typeface="+mn-ea"/>
                <a:cs typeface="+mn-cs"/>
              </a:rPr>
              <a:t>5. Intensity Cycle 1</a:t>
            </a:r>
          </a:p>
          <a:p>
            <a:pPr rtl="0"/>
            <a:r>
              <a:rPr lang="en-GB" sz="1200" b="1" kern="1200" dirty="0">
                <a:solidFill>
                  <a:schemeClr val="tx1"/>
                </a:solidFill>
                <a:effectLst/>
                <a:latin typeface="+mn-lt"/>
                <a:ea typeface="+mn-ea"/>
                <a:cs typeface="+mn-cs"/>
              </a:rPr>
              <a:t>Data in Picture1.png:</a:t>
            </a:r>
            <a:r>
              <a:rPr lang="en-GB" sz="1200" kern="1200" dirty="0">
                <a:solidFill>
                  <a:schemeClr val="tx1"/>
                </a:solidFill>
                <a:effectLst/>
                <a:latin typeface="+mn-lt"/>
                <a:ea typeface="+mn-ea"/>
                <a:cs typeface="+mn-cs"/>
              </a:rPr>
              <a:t> Values range from </a:t>
            </a:r>
            <a:r>
              <a:rPr lang="en-GB" sz="1200" b="1" kern="1200" dirty="0">
                <a:solidFill>
                  <a:schemeClr val="tx1"/>
                </a:solidFill>
                <a:effectLst/>
                <a:latin typeface="+mn-lt"/>
                <a:ea typeface="+mn-ea"/>
                <a:cs typeface="+mn-cs"/>
              </a:rPr>
              <a:t>108</a:t>
            </a:r>
            <a:r>
              <a:rPr lang="en-GB" sz="1200" kern="1200" dirty="0">
                <a:solidFill>
                  <a:schemeClr val="tx1"/>
                </a:solidFill>
                <a:effectLst/>
                <a:latin typeface="+mn-lt"/>
                <a:ea typeface="+mn-ea"/>
                <a:cs typeface="+mn-cs"/>
              </a:rPr>
              <a:t> (Index) to </a:t>
            </a:r>
            <a:r>
              <a:rPr lang="en-GB" sz="1200" b="1" kern="1200" dirty="0">
                <a:solidFill>
                  <a:schemeClr val="tx1"/>
                </a:solidFill>
                <a:effectLst/>
                <a:latin typeface="+mn-lt"/>
                <a:ea typeface="+mn-ea"/>
                <a:cs typeface="+mn-cs"/>
              </a:rPr>
              <a:t>238</a:t>
            </a:r>
            <a:r>
              <a:rPr lang="en-GB" sz="1200" kern="1200" dirty="0">
                <a:solidFill>
                  <a:schemeClr val="tx1"/>
                </a:solidFill>
                <a:effectLst/>
                <a:latin typeface="+mn-lt"/>
                <a:ea typeface="+mn-ea"/>
                <a:cs typeface="+mn-cs"/>
              </a:rPr>
              <a:t> (Read 1).</a:t>
            </a:r>
          </a:p>
          <a:p>
            <a:pPr rtl="0"/>
            <a:r>
              <a:rPr lang="en-GB" sz="1200" b="1" kern="1200" dirty="0">
                <a:solidFill>
                  <a:schemeClr val="tx1"/>
                </a:solidFill>
                <a:effectLst/>
                <a:latin typeface="+mn-lt"/>
                <a:ea typeface="+mn-ea"/>
                <a:cs typeface="+mn-cs"/>
              </a:rPr>
              <a:t>Importance:</a:t>
            </a:r>
            <a:r>
              <a:rPr lang="en-GB" sz="1200" kern="1200" dirty="0">
                <a:solidFill>
                  <a:schemeClr val="tx1"/>
                </a:solidFill>
                <a:effectLst/>
                <a:latin typeface="+mn-lt"/>
                <a:ea typeface="+mn-ea"/>
                <a:cs typeface="+mn-cs"/>
              </a:rPr>
              <a:t> This measures the brightness of the fluorescent signal at the first cycle. If this number is too low, the software may struggle to identify clusters; if too high, it may indicate over-clustering or signal saturation.</a:t>
            </a:r>
          </a:p>
          <a:p>
            <a:pPr rtl="0"/>
            <a:r>
              <a:rPr lang="en-GB" sz="1200" b="1" kern="1200" dirty="0">
                <a:solidFill>
                  <a:schemeClr val="tx1"/>
                </a:solidFill>
                <a:effectLst/>
                <a:latin typeface="+mn-lt"/>
                <a:ea typeface="+mn-ea"/>
                <a:cs typeface="+mn-cs"/>
              </a:rPr>
              <a:t>6. % ≥ Q30</a:t>
            </a:r>
          </a:p>
          <a:p>
            <a:pPr rtl="0"/>
            <a:r>
              <a:rPr lang="en-GB" sz="1200" b="1" kern="1200" dirty="0">
                <a:solidFill>
                  <a:schemeClr val="tx1"/>
                </a:solidFill>
                <a:effectLst/>
                <a:latin typeface="+mn-lt"/>
                <a:ea typeface="+mn-ea"/>
                <a:cs typeface="+mn-cs"/>
              </a:rPr>
              <a:t>Data in Picture1.png:</a:t>
            </a:r>
            <a:r>
              <a:rPr lang="en-GB" sz="1200" kern="1200" dirty="0">
                <a:solidFill>
                  <a:schemeClr val="tx1"/>
                </a:solidFill>
                <a:effectLst/>
                <a:latin typeface="+mn-lt"/>
                <a:ea typeface="+mn-ea"/>
                <a:cs typeface="+mn-cs"/>
              </a:rPr>
              <a:t> The run total is </a:t>
            </a:r>
            <a:r>
              <a:rPr lang="en-GB" sz="1200" b="1" kern="1200" dirty="0">
                <a:solidFill>
                  <a:schemeClr val="tx1"/>
                </a:solidFill>
                <a:effectLst/>
                <a:latin typeface="+mn-lt"/>
                <a:ea typeface="+mn-ea"/>
                <a:cs typeface="+mn-cs"/>
              </a:rPr>
              <a:t>97.23%</a:t>
            </a:r>
            <a:r>
              <a:rPr lang="en-GB" sz="1200" kern="1200" dirty="0">
                <a:solidFill>
                  <a:schemeClr val="tx1"/>
                </a:solidFill>
                <a:effectLst/>
                <a:latin typeface="+mn-lt"/>
                <a:ea typeface="+mn-ea"/>
                <a:cs typeface="+mn-cs"/>
              </a:rPr>
              <a:t>.</a:t>
            </a:r>
          </a:p>
          <a:p>
            <a:pPr rtl="0"/>
            <a:r>
              <a:rPr lang="en-GB" sz="1200" b="1" kern="1200" dirty="0">
                <a:solidFill>
                  <a:schemeClr val="tx1"/>
                </a:solidFill>
                <a:effectLst/>
                <a:latin typeface="+mn-lt"/>
                <a:ea typeface="+mn-ea"/>
                <a:cs typeface="+mn-cs"/>
              </a:rPr>
              <a:t>Importance:</a:t>
            </a:r>
            <a:r>
              <a:rPr lang="en-GB" sz="1200" kern="1200" dirty="0">
                <a:solidFill>
                  <a:schemeClr val="tx1"/>
                </a:solidFill>
                <a:effectLst/>
                <a:latin typeface="+mn-lt"/>
                <a:ea typeface="+mn-ea"/>
                <a:cs typeface="+mn-cs"/>
              </a:rPr>
              <a:t> This is the gold standard for quality. It represents the percentage of bases with a quality score of 30 or higher (meaning a 1 in 1000 chance of an incorrect base call). Your score of &gt;97% is excellent for a </a:t>
            </a:r>
            <a:r>
              <a:rPr lang="en-GB" sz="1200" kern="1200" dirty="0" err="1">
                <a:solidFill>
                  <a:schemeClr val="tx1"/>
                </a:solidFill>
                <a:effectLst/>
                <a:latin typeface="+mn-lt"/>
                <a:ea typeface="+mn-ea"/>
                <a:cs typeface="+mn-cs"/>
              </a:rPr>
              <a:t>MiSeq</a:t>
            </a:r>
            <a:r>
              <a:rPr lang="en-GB" sz="1200" kern="1200" dirty="0">
                <a:solidFill>
                  <a:schemeClr val="tx1"/>
                </a:solidFill>
                <a:effectLst/>
                <a:latin typeface="+mn-lt"/>
                <a:ea typeface="+mn-ea"/>
                <a:cs typeface="+mn-cs"/>
              </a:rPr>
              <a:t> run.</a:t>
            </a:r>
          </a:p>
          <a:p>
            <a:pPr rtl="0"/>
            <a:r>
              <a:rPr lang="en-GB" sz="1200" b="1" kern="1200" dirty="0">
                <a:solidFill>
                  <a:schemeClr val="tx1"/>
                </a:solidFill>
                <a:effectLst/>
                <a:latin typeface="+mn-lt"/>
                <a:ea typeface="+mn-ea"/>
                <a:cs typeface="+mn-cs"/>
              </a:rPr>
              <a:t>7. Cluster PF (%)</a:t>
            </a:r>
          </a:p>
          <a:p>
            <a:pPr rtl="0"/>
            <a:r>
              <a:rPr lang="en-GB" sz="1200" b="1" kern="1200" dirty="0">
                <a:solidFill>
                  <a:schemeClr val="tx1"/>
                </a:solidFill>
                <a:effectLst/>
                <a:latin typeface="+mn-lt"/>
                <a:ea typeface="+mn-ea"/>
                <a:cs typeface="+mn-cs"/>
              </a:rPr>
              <a:t>Data in Picture1.png:</a:t>
            </a:r>
            <a:r>
              <a:rPr lang="en-GB" sz="1200" kern="1200" dirty="0">
                <a:solidFill>
                  <a:schemeClr val="tx1"/>
                </a:solidFill>
                <a:effectLst/>
                <a:latin typeface="+mn-lt"/>
                <a:ea typeface="+mn-ea"/>
                <a:cs typeface="+mn-cs"/>
              </a:rPr>
              <a:t> </a:t>
            </a:r>
            <a:r>
              <a:rPr lang="en-GB" sz="1200" b="1" kern="1200" dirty="0">
                <a:solidFill>
                  <a:schemeClr val="tx1"/>
                </a:solidFill>
                <a:effectLst/>
                <a:latin typeface="+mn-lt"/>
                <a:ea typeface="+mn-ea"/>
                <a:cs typeface="+mn-cs"/>
              </a:rPr>
              <a:t>95.45%</a:t>
            </a:r>
            <a:r>
              <a:rPr lang="en-GB" sz="1200" kern="1200" dirty="0">
                <a:solidFill>
                  <a:schemeClr val="tx1"/>
                </a:solidFill>
                <a:effectLst/>
                <a:latin typeface="+mn-lt"/>
                <a:ea typeface="+mn-ea"/>
                <a:cs typeface="+mn-cs"/>
              </a:rPr>
              <a:t>.</a:t>
            </a:r>
          </a:p>
          <a:p>
            <a:pPr rtl="0"/>
            <a:r>
              <a:rPr lang="en-GB" sz="1200" b="1" kern="1200" dirty="0">
                <a:solidFill>
                  <a:schemeClr val="tx1"/>
                </a:solidFill>
                <a:effectLst/>
                <a:latin typeface="+mn-lt"/>
                <a:ea typeface="+mn-ea"/>
                <a:cs typeface="+mn-cs"/>
              </a:rPr>
              <a:t>Importance:</a:t>
            </a:r>
            <a:r>
              <a:rPr lang="en-GB" sz="1200" kern="1200" dirty="0">
                <a:solidFill>
                  <a:schemeClr val="tx1"/>
                </a:solidFill>
                <a:effectLst/>
                <a:latin typeface="+mn-lt"/>
                <a:ea typeface="+mn-ea"/>
                <a:cs typeface="+mn-cs"/>
              </a:rPr>
              <a:t> "PF" stands for </a:t>
            </a:r>
            <a:r>
              <a:rPr lang="en-GB" sz="1200" b="1" kern="1200" dirty="0">
                <a:solidFill>
                  <a:schemeClr val="tx1"/>
                </a:solidFill>
                <a:effectLst/>
                <a:latin typeface="+mn-lt"/>
                <a:ea typeface="+mn-ea"/>
                <a:cs typeface="+mn-cs"/>
              </a:rPr>
              <a:t>Passed Filter</a:t>
            </a:r>
            <a:r>
              <a:rPr lang="en-GB" sz="1200" kern="1200" dirty="0">
                <a:solidFill>
                  <a:schemeClr val="tx1"/>
                </a:solidFill>
                <a:effectLst/>
                <a:latin typeface="+mn-lt"/>
                <a:ea typeface="+mn-ea"/>
                <a:cs typeface="+mn-cs"/>
              </a:rPr>
              <a:t>. This tells you what percentage of the DNA clusters on the flow cell were "clean" enough to be sequenced. A high percentage (usually &gt;80%) indicates good library preparation and proper loading concentration.</a:t>
            </a:r>
          </a:p>
          <a:p>
            <a:pPr rtl="0"/>
            <a:r>
              <a:rPr lang="en-GB" sz="1200" b="1" kern="1200" dirty="0">
                <a:solidFill>
                  <a:schemeClr val="tx1"/>
                </a:solidFill>
                <a:effectLst/>
                <a:latin typeface="+mn-lt"/>
                <a:ea typeface="+mn-ea"/>
                <a:cs typeface="+mn-cs"/>
              </a:rPr>
              <a:t>8. Reads PF</a:t>
            </a:r>
          </a:p>
          <a:p>
            <a:pPr rtl="0"/>
            <a:r>
              <a:rPr lang="en-GB" sz="1200" b="1" kern="1200" dirty="0">
                <a:solidFill>
                  <a:schemeClr val="tx1"/>
                </a:solidFill>
                <a:effectLst/>
                <a:latin typeface="+mn-lt"/>
                <a:ea typeface="+mn-ea"/>
                <a:cs typeface="+mn-cs"/>
              </a:rPr>
              <a:t>Data in Picture1.png:</a:t>
            </a:r>
            <a:r>
              <a:rPr lang="en-GB" sz="1200" kern="1200" dirty="0">
                <a:solidFill>
                  <a:schemeClr val="tx1"/>
                </a:solidFill>
                <a:effectLst/>
                <a:latin typeface="+mn-lt"/>
                <a:ea typeface="+mn-ea"/>
                <a:cs typeface="+mn-cs"/>
              </a:rPr>
              <a:t> </a:t>
            </a:r>
            <a:r>
              <a:rPr lang="en-GB" sz="1200" b="1" kern="1200" dirty="0">
                <a:solidFill>
                  <a:schemeClr val="tx1"/>
                </a:solidFill>
                <a:effectLst/>
                <a:latin typeface="+mn-lt"/>
                <a:ea typeface="+mn-ea"/>
                <a:cs typeface="+mn-cs"/>
              </a:rPr>
              <a:t>10,694,353</a:t>
            </a:r>
            <a:r>
              <a:rPr lang="en-GB" sz="1200" kern="1200" dirty="0">
                <a:solidFill>
                  <a:schemeClr val="tx1"/>
                </a:solidFill>
                <a:effectLst/>
                <a:latin typeface="+mn-lt"/>
                <a:ea typeface="+mn-ea"/>
                <a:cs typeface="+mn-cs"/>
              </a:rPr>
              <a:t>.</a:t>
            </a:r>
          </a:p>
          <a:p>
            <a:pPr rtl="0"/>
            <a:r>
              <a:rPr lang="en-GB" sz="1200" b="1" kern="1200" dirty="0">
                <a:solidFill>
                  <a:schemeClr val="tx1"/>
                </a:solidFill>
                <a:effectLst/>
                <a:latin typeface="+mn-lt"/>
                <a:ea typeface="+mn-ea"/>
                <a:cs typeface="+mn-cs"/>
              </a:rPr>
              <a:t>Importance:</a:t>
            </a:r>
            <a:r>
              <a:rPr lang="en-GB" sz="1200" kern="1200" dirty="0">
                <a:solidFill>
                  <a:schemeClr val="tx1"/>
                </a:solidFill>
                <a:effectLst/>
                <a:latin typeface="+mn-lt"/>
                <a:ea typeface="+mn-ea"/>
                <a:cs typeface="+mn-cs"/>
              </a:rPr>
              <a:t> This is the actual number of individual DNA strings (clusters) that were successfully sequenced. This number is critical for knowing if you have enough "reads" to find rare variants or achieve deep coverage.</a:t>
            </a:r>
          </a:p>
          <a:p>
            <a:pPr rtl="0"/>
            <a:r>
              <a:rPr lang="en-GB" sz="1200" b="1" kern="1200" dirty="0">
                <a:solidFill>
                  <a:schemeClr val="tx1"/>
                </a:solidFill>
                <a:effectLst/>
                <a:latin typeface="+mn-lt"/>
                <a:ea typeface="+mn-ea"/>
                <a:cs typeface="+mn-cs"/>
              </a:rPr>
              <a:t>9. Density</a:t>
            </a:r>
          </a:p>
          <a:p>
            <a:pPr rtl="0"/>
            <a:r>
              <a:rPr lang="en-GB" sz="1200" b="1" kern="1200" dirty="0">
                <a:solidFill>
                  <a:schemeClr val="tx1"/>
                </a:solidFill>
                <a:effectLst/>
                <a:latin typeface="+mn-lt"/>
                <a:ea typeface="+mn-ea"/>
                <a:cs typeface="+mn-cs"/>
              </a:rPr>
              <a:t>Data in Picture1.png:</a:t>
            </a:r>
            <a:r>
              <a:rPr lang="en-GB" sz="1200" kern="1200" dirty="0">
                <a:solidFill>
                  <a:schemeClr val="tx1"/>
                </a:solidFill>
                <a:effectLst/>
                <a:latin typeface="+mn-lt"/>
                <a:ea typeface="+mn-ea"/>
                <a:cs typeface="+mn-cs"/>
              </a:rPr>
              <a:t> </a:t>
            </a:r>
            <a:r>
              <a:rPr lang="en-GB" sz="1200" b="1" kern="1200" dirty="0">
                <a:solidFill>
                  <a:schemeClr val="tx1"/>
                </a:solidFill>
                <a:effectLst/>
                <a:latin typeface="+mn-lt"/>
                <a:ea typeface="+mn-ea"/>
                <a:cs typeface="+mn-cs"/>
              </a:rPr>
              <a:t>579 K/mm²</a:t>
            </a:r>
            <a:r>
              <a:rPr lang="en-GB" sz="1200" kern="1200" dirty="0">
                <a:solidFill>
                  <a:schemeClr val="tx1"/>
                </a:solidFill>
                <a:effectLst/>
                <a:latin typeface="+mn-lt"/>
                <a:ea typeface="+mn-ea"/>
                <a:cs typeface="+mn-cs"/>
              </a:rPr>
              <a:t>.</a:t>
            </a:r>
          </a:p>
          <a:p>
            <a:pPr rtl="0"/>
            <a:r>
              <a:rPr lang="en-GB" sz="1200" b="1" kern="1200" dirty="0">
                <a:solidFill>
                  <a:schemeClr val="tx1"/>
                </a:solidFill>
                <a:effectLst/>
                <a:latin typeface="+mn-lt"/>
                <a:ea typeface="+mn-ea"/>
                <a:cs typeface="+mn-cs"/>
              </a:rPr>
              <a:t>Importance:</a:t>
            </a:r>
            <a:r>
              <a:rPr lang="en-GB" sz="1200" kern="1200" dirty="0">
                <a:solidFill>
                  <a:schemeClr val="tx1"/>
                </a:solidFill>
                <a:effectLst/>
                <a:latin typeface="+mn-lt"/>
                <a:ea typeface="+mn-ea"/>
                <a:cs typeface="+mn-cs"/>
              </a:rPr>
              <a:t> This measures how crowded the clusters are on the flow cell. For a </a:t>
            </a:r>
            <a:r>
              <a:rPr lang="en-GB" sz="1200" kern="1200" dirty="0" err="1">
                <a:solidFill>
                  <a:schemeClr val="tx1"/>
                </a:solidFill>
                <a:effectLst/>
                <a:latin typeface="+mn-lt"/>
                <a:ea typeface="+mn-ea"/>
                <a:cs typeface="+mn-cs"/>
              </a:rPr>
              <a:t>MiSeq</a:t>
            </a:r>
            <a:r>
              <a:rPr lang="en-GB" sz="1200" kern="1200" dirty="0">
                <a:solidFill>
                  <a:schemeClr val="tx1"/>
                </a:solidFill>
                <a:effectLst/>
                <a:latin typeface="+mn-lt"/>
                <a:ea typeface="+mn-ea"/>
                <a:cs typeface="+mn-cs"/>
              </a:rPr>
              <a:t>, you typically want to see this between </a:t>
            </a:r>
            <a:r>
              <a:rPr lang="en-GB" sz="1200" b="1" kern="1200" dirty="0">
                <a:solidFill>
                  <a:schemeClr val="tx1"/>
                </a:solidFill>
                <a:effectLst/>
                <a:latin typeface="+mn-lt"/>
                <a:ea typeface="+mn-ea"/>
                <a:cs typeface="+mn-cs"/>
              </a:rPr>
              <a:t>800–1200 K/mm²</a:t>
            </a:r>
            <a:r>
              <a:rPr lang="en-GB" sz="1200" kern="1200" dirty="0">
                <a:solidFill>
                  <a:schemeClr val="tx1"/>
                </a:solidFill>
                <a:effectLst/>
                <a:latin typeface="+mn-lt"/>
                <a:ea typeface="+mn-ea"/>
                <a:cs typeface="+mn-cs"/>
              </a:rPr>
              <a:t> depending on the chemistry version. Your density is slightly low, which explains why your yields are in the 3.2 </a:t>
            </a:r>
            <a:r>
              <a:rPr lang="en-GB" sz="1200" kern="1200" dirty="0" err="1">
                <a:solidFill>
                  <a:schemeClr val="tx1"/>
                </a:solidFill>
                <a:effectLst/>
                <a:latin typeface="+mn-lt"/>
                <a:ea typeface="+mn-ea"/>
                <a:cs typeface="+mn-cs"/>
              </a:rPr>
              <a:t>Gbp</a:t>
            </a:r>
            <a:r>
              <a:rPr lang="en-GB" sz="1200" kern="1200" dirty="0">
                <a:solidFill>
                  <a:schemeClr val="tx1"/>
                </a:solidFill>
                <a:effectLst/>
                <a:latin typeface="+mn-lt"/>
                <a:ea typeface="+mn-ea"/>
                <a:cs typeface="+mn-cs"/>
              </a:rPr>
              <a:t> range rather than the maximum possible for the kit.</a:t>
            </a:r>
          </a:p>
          <a:p>
            <a:endParaRPr lang="en-GB" dirty="0"/>
          </a:p>
        </p:txBody>
      </p:sp>
      <p:sp>
        <p:nvSpPr>
          <p:cNvPr id="4" name="Slide Number Placeholder 3"/>
          <p:cNvSpPr>
            <a:spLocks noGrp="1"/>
          </p:cNvSpPr>
          <p:nvPr>
            <p:ph type="sldNum" sz="quarter" idx="5"/>
          </p:nvPr>
        </p:nvSpPr>
        <p:spPr/>
        <p:txBody>
          <a:bodyPr/>
          <a:lstStyle/>
          <a:p>
            <a:fld id="{6A95CA27-854A-4F67-82E4-3167AB381797}" type="slidenum">
              <a:rPr lang="en-GB" smtClean="0"/>
              <a:t>2</a:t>
            </a:fld>
            <a:endParaRPr lang="en-GB"/>
          </a:p>
        </p:txBody>
      </p:sp>
    </p:spTree>
    <p:extLst>
      <p:ext uri="{BB962C8B-B14F-4D97-AF65-F5344CB8AC3E}">
        <p14:creationId xmlns:p14="http://schemas.microsoft.com/office/powerpoint/2010/main" val="916192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5E36A-1284-588D-9FEC-851540C7AB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9C3EA47-2B77-AC07-4266-262BF4A4A1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6136644-E993-845F-266E-9A8BBFC3CB20}"/>
              </a:ext>
            </a:extLst>
          </p:cNvPr>
          <p:cNvSpPr>
            <a:spLocks noGrp="1"/>
          </p:cNvSpPr>
          <p:nvPr>
            <p:ph type="dt" sz="half" idx="10"/>
          </p:nvPr>
        </p:nvSpPr>
        <p:spPr/>
        <p:txBody>
          <a:bodyPr/>
          <a:lstStyle/>
          <a:p>
            <a:fld id="{7520F557-9DD8-43CA-A044-14D31FD8E58E}" type="datetimeFigureOut">
              <a:rPr lang="en-GB" smtClean="0"/>
              <a:t>04/05/2026</a:t>
            </a:fld>
            <a:endParaRPr lang="en-GB"/>
          </a:p>
        </p:txBody>
      </p:sp>
      <p:sp>
        <p:nvSpPr>
          <p:cNvPr id="5" name="Footer Placeholder 4">
            <a:extLst>
              <a:ext uri="{FF2B5EF4-FFF2-40B4-BE49-F238E27FC236}">
                <a16:creationId xmlns:a16="http://schemas.microsoft.com/office/drawing/2014/main" id="{3A04064D-6910-C5E3-26DC-057BD5364B4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4150231-7877-3A7D-9E68-A7E5D20528FA}"/>
              </a:ext>
            </a:extLst>
          </p:cNvPr>
          <p:cNvSpPr>
            <a:spLocks noGrp="1"/>
          </p:cNvSpPr>
          <p:nvPr>
            <p:ph type="sldNum" sz="quarter" idx="12"/>
          </p:nvPr>
        </p:nvSpPr>
        <p:spPr/>
        <p:txBody>
          <a:bodyPr/>
          <a:lstStyle/>
          <a:p>
            <a:fld id="{464173BE-511F-45D5-909C-1F1A36D275C1}" type="slidenum">
              <a:rPr lang="en-GB" smtClean="0"/>
              <a:t>‹#›</a:t>
            </a:fld>
            <a:endParaRPr lang="en-GB"/>
          </a:p>
        </p:txBody>
      </p:sp>
    </p:spTree>
    <p:extLst>
      <p:ext uri="{BB962C8B-B14F-4D97-AF65-F5344CB8AC3E}">
        <p14:creationId xmlns:p14="http://schemas.microsoft.com/office/powerpoint/2010/main" val="3124030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30725-15F3-62F2-F55A-F0FC05A46D2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1CECDC0-395E-8758-D57F-BA67F63815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6F3F524-3CB9-38AB-C2B6-7126DECB9C8D}"/>
              </a:ext>
            </a:extLst>
          </p:cNvPr>
          <p:cNvSpPr>
            <a:spLocks noGrp="1"/>
          </p:cNvSpPr>
          <p:nvPr>
            <p:ph type="dt" sz="half" idx="10"/>
          </p:nvPr>
        </p:nvSpPr>
        <p:spPr/>
        <p:txBody>
          <a:bodyPr/>
          <a:lstStyle/>
          <a:p>
            <a:fld id="{7520F557-9DD8-43CA-A044-14D31FD8E58E}" type="datetimeFigureOut">
              <a:rPr lang="en-GB" smtClean="0"/>
              <a:t>04/05/2026</a:t>
            </a:fld>
            <a:endParaRPr lang="en-GB"/>
          </a:p>
        </p:txBody>
      </p:sp>
      <p:sp>
        <p:nvSpPr>
          <p:cNvPr id="5" name="Footer Placeholder 4">
            <a:extLst>
              <a:ext uri="{FF2B5EF4-FFF2-40B4-BE49-F238E27FC236}">
                <a16:creationId xmlns:a16="http://schemas.microsoft.com/office/drawing/2014/main" id="{D6A67BBD-5E3B-9189-CBAD-485F932AA28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1ACB3A2-9A20-D169-92FF-BE3AB684DFD4}"/>
              </a:ext>
            </a:extLst>
          </p:cNvPr>
          <p:cNvSpPr>
            <a:spLocks noGrp="1"/>
          </p:cNvSpPr>
          <p:nvPr>
            <p:ph type="sldNum" sz="quarter" idx="12"/>
          </p:nvPr>
        </p:nvSpPr>
        <p:spPr/>
        <p:txBody>
          <a:bodyPr/>
          <a:lstStyle/>
          <a:p>
            <a:fld id="{464173BE-511F-45D5-909C-1F1A36D275C1}" type="slidenum">
              <a:rPr lang="en-GB" smtClean="0"/>
              <a:t>‹#›</a:t>
            </a:fld>
            <a:endParaRPr lang="en-GB"/>
          </a:p>
        </p:txBody>
      </p:sp>
    </p:spTree>
    <p:extLst>
      <p:ext uri="{BB962C8B-B14F-4D97-AF65-F5344CB8AC3E}">
        <p14:creationId xmlns:p14="http://schemas.microsoft.com/office/powerpoint/2010/main" val="2483449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3E67B-DAA0-B377-B9CB-F3C6D80C5B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29E0021-409B-CB7E-1DCC-776AEF2357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A183EF-B8F2-96CF-35FF-82A0A793DF0B}"/>
              </a:ext>
            </a:extLst>
          </p:cNvPr>
          <p:cNvSpPr>
            <a:spLocks noGrp="1"/>
          </p:cNvSpPr>
          <p:nvPr>
            <p:ph type="dt" sz="half" idx="10"/>
          </p:nvPr>
        </p:nvSpPr>
        <p:spPr/>
        <p:txBody>
          <a:bodyPr/>
          <a:lstStyle/>
          <a:p>
            <a:fld id="{7520F557-9DD8-43CA-A044-14D31FD8E58E}" type="datetimeFigureOut">
              <a:rPr lang="en-GB" smtClean="0"/>
              <a:t>04/05/2026</a:t>
            </a:fld>
            <a:endParaRPr lang="en-GB"/>
          </a:p>
        </p:txBody>
      </p:sp>
      <p:sp>
        <p:nvSpPr>
          <p:cNvPr id="5" name="Footer Placeholder 4">
            <a:extLst>
              <a:ext uri="{FF2B5EF4-FFF2-40B4-BE49-F238E27FC236}">
                <a16:creationId xmlns:a16="http://schemas.microsoft.com/office/drawing/2014/main" id="{10319CC1-7FB5-5AFA-3B76-92CAA10EB82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D1B652B-12AB-9D0E-9ADF-9C4A7615AA47}"/>
              </a:ext>
            </a:extLst>
          </p:cNvPr>
          <p:cNvSpPr>
            <a:spLocks noGrp="1"/>
          </p:cNvSpPr>
          <p:nvPr>
            <p:ph type="sldNum" sz="quarter" idx="12"/>
          </p:nvPr>
        </p:nvSpPr>
        <p:spPr/>
        <p:txBody>
          <a:bodyPr/>
          <a:lstStyle/>
          <a:p>
            <a:fld id="{464173BE-511F-45D5-909C-1F1A36D275C1}" type="slidenum">
              <a:rPr lang="en-GB" smtClean="0"/>
              <a:t>‹#›</a:t>
            </a:fld>
            <a:endParaRPr lang="en-GB"/>
          </a:p>
        </p:txBody>
      </p:sp>
    </p:spTree>
    <p:extLst>
      <p:ext uri="{BB962C8B-B14F-4D97-AF65-F5344CB8AC3E}">
        <p14:creationId xmlns:p14="http://schemas.microsoft.com/office/powerpoint/2010/main" val="2734651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8003-0983-DFB8-FB81-39D3EFECF74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2A08C50-5470-6F42-B442-E9E847A4DB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41C726C-C848-B3E0-D9B2-99622F230A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484A8DE-A11F-620F-2313-D2EDDD3E0853}"/>
              </a:ext>
            </a:extLst>
          </p:cNvPr>
          <p:cNvSpPr>
            <a:spLocks noGrp="1"/>
          </p:cNvSpPr>
          <p:nvPr>
            <p:ph type="dt" sz="half" idx="10"/>
          </p:nvPr>
        </p:nvSpPr>
        <p:spPr/>
        <p:txBody>
          <a:bodyPr/>
          <a:lstStyle/>
          <a:p>
            <a:fld id="{7520F557-9DD8-43CA-A044-14D31FD8E58E}" type="datetimeFigureOut">
              <a:rPr lang="en-GB" smtClean="0"/>
              <a:t>04/05/2026</a:t>
            </a:fld>
            <a:endParaRPr lang="en-GB"/>
          </a:p>
        </p:txBody>
      </p:sp>
      <p:sp>
        <p:nvSpPr>
          <p:cNvPr id="6" name="Footer Placeholder 5">
            <a:extLst>
              <a:ext uri="{FF2B5EF4-FFF2-40B4-BE49-F238E27FC236}">
                <a16:creationId xmlns:a16="http://schemas.microsoft.com/office/drawing/2014/main" id="{FE1AA93A-1D89-A34C-E02A-3CC74166801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C85CC4C-E342-23AD-D059-6CBBB15F5866}"/>
              </a:ext>
            </a:extLst>
          </p:cNvPr>
          <p:cNvSpPr>
            <a:spLocks noGrp="1"/>
          </p:cNvSpPr>
          <p:nvPr>
            <p:ph type="sldNum" sz="quarter" idx="12"/>
          </p:nvPr>
        </p:nvSpPr>
        <p:spPr/>
        <p:txBody>
          <a:bodyPr/>
          <a:lstStyle/>
          <a:p>
            <a:fld id="{464173BE-511F-45D5-909C-1F1A36D275C1}" type="slidenum">
              <a:rPr lang="en-GB" smtClean="0"/>
              <a:t>‹#›</a:t>
            </a:fld>
            <a:endParaRPr lang="en-GB"/>
          </a:p>
        </p:txBody>
      </p:sp>
    </p:spTree>
    <p:extLst>
      <p:ext uri="{BB962C8B-B14F-4D97-AF65-F5344CB8AC3E}">
        <p14:creationId xmlns:p14="http://schemas.microsoft.com/office/powerpoint/2010/main" val="4080813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32F37-9B3C-6ECF-7D23-F0B7069331A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F432FBB-255D-1379-3891-0550328A78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B86963-E623-9E38-D8BD-AEEEF0C128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A0CDE68-4EFE-78A8-468A-8055629D6C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871378-75BA-5495-78C2-411ECD90F7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009F2F1-158B-EB4D-6417-DD43A858C202}"/>
              </a:ext>
            </a:extLst>
          </p:cNvPr>
          <p:cNvSpPr>
            <a:spLocks noGrp="1"/>
          </p:cNvSpPr>
          <p:nvPr>
            <p:ph type="dt" sz="half" idx="10"/>
          </p:nvPr>
        </p:nvSpPr>
        <p:spPr/>
        <p:txBody>
          <a:bodyPr/>
          <a:lstStyle/>
          <a:p>
            <a:fld id="{7520F557-9DD8-43CA-A044-14D31FD8E58E}" type="datetimeFigureOut">
              <a:rPr lang="en-GB" smtClean="0"/>
              <a:t>04/05/2026</a:t>
            </a:fld>
            <a:endParaRPr lang="en-GB"/>
          </a:p>
        </p:txBody>
      </p:sp>
      <p:sp>
        <p:nvSpPr>
          <p:cNvPr id="8" name="Footer Placeholder 7">
            <a:extLst>
              <a:ext uri="{FF2B5EF4-FFF2-40B4-BE49-F238E27FC236}">
                <a16:creationId xmlns:a16="http://schemas.microsoft.com/office/drawing/2014/main" id="{0D150E65-8EFF-5899-99B0-20E0BA6BE7B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4CC5635-2151-D290-FB49-374865684F20}"/>
              </a:ext>
            </a:extLst>
          </p:cNvPr>
          <p:cNvSpPr>
            <a:spLocks noGrp="1"/>
          </p:cNvSpPr>
          <p:nvPr>
            <p:ph type="sldNum" sz="quarter" idx="12"/>
          </p:nvPr>
        </p:nvSpPr>
        <p:spPr/>
        <p:txBody>
          <a:bodyPr/>
          <a:lstStyle/>
          <a:p>
            <a:fld id="{464173BE-511F-45D5-909C-1F1A36D275C1}" type="slidenum">
              <a:rPr lang="en-GB" smtClean="0"/>
              <a:t>‹#›</a:t>
            </a:fld>
            <a:endParaRPr lang="en-GB"/>
          </a:p>
        </p:txBody>
      </p:sp>
    </p:spTree>
    <p:extLst>
      <p:ext uri="{BB962C8B-B14F-4D97-AF65-F5344CB8AC3E}">
        <p14:creationId xmlns:p14="http://schemas.microsoft.com/office/powerpoint/2010/main" val="2110225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AE585-4414-FA98-5EBB-1CC482E24FF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14F38F1-556D-CEAA-D42A-6F6ABAAEBED3}"/>
              </a:ext>
            </a:extLst>
          </p:cNvPr>
          <p:cNvSpPr>
            <a:spLocks noGrp="1"/>
          </p:cNvSpPr>
          <p:nvPr>
            <p:ph type="dt" sz="half" idx="10"/>
          </p:nvPr>
        </p:nvSpPr>
        <p:spPr/>
        <p:txBody>
          <a:bodyPr/>
          <a:lstStyle/>
          <a:p>
            <a:fld id="{7520F557-9DD8-43CA-A044-14D31FD8E58E}" type="datetimeFigureOut">
              <a:rPr lang="en-GB" smtClean="0"/>
              <a:t>04/05/2026</a:t>
            </a:fld>
            <a:endParaRPr lang="en-GB"/>
          </a:p>
        </p:txBody>
      </p:sp>
      <p:sp>
        <p:nvSpPr>
          <p:cNvPr id="4" name="Footer Placeholder 3">
            <a:extLst>
              <a:ext uri="{FF2B5EF4-FFF2-40B4-BE49-F238E27FC236}">
                <a16:creationId xmlns:a16="http://schemas.microsoft.com/office/drawing/2014/main" id="{1458DE20-9E20-794B-1930-5AE03709211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AE5B7FC-BF34-FEE5-3437-FC1D2ECE2C12}"/>
              </a:ext>
            </a:extLst>
          </p:cNvPr>
          <p:cNvSpPr>
            <a:spLocks noGrp="1"/>
          </p:cNvSpPr>
          <p:nvPr>
            <p:ph type="sldNum" sz="quarter" idx="12"/>
          </p:nvPr>
        </p:nvSpPr>
        <p:spPr/>
        <p:txBody>
          <a:bodyPr/>
          <a:lstStyle/>
          <a:p>
            <a:fld id="{464173BE-511F-45D5-909C-1F1A36D275C1}" type="slidenum">
              <a:rPr lang="en-GB" smtClean="0"/>
              <a:t>‹#›</a:t>
            </a:fld>
            <a:endParaRPr lang="en-GB"/>
          </a:p>
        </p:txBody>
      </p:sp>
    </p:spTree>
    <p:extLst>
      <p:ext uri="{BB962C8B-B14F-4D97-AF65-F5344CB8AC3E}">
        <p14:creationId xmlns:p14="http://schemas.microsoft.com/office/powerpoint/2010/main" val="585938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F6D9F4-197F-A504-B76A-EA4253B4C708}"/>
              </a:ext>
            </a:extLst>
          </p:cNvPr>
          <p:cNvSpPr>
            <a:spLocks noGrp="1"/>
          </p:cNvSpPr>
          <p:nvPr>
            <p:ph type="dt" sz="half" idx="10"/>
          </p:nvPr>
        </p:nvSpPr>
        <p:spPr/>
        <p:txBody>
          <a:bodyPr/>
          <a:lstStyle/>
          <a:p>
            <a:fld id="{7520F557-9DD8-43CA-A044-14D31FD8E58E}" type="datetimeFigureOut">
              <a:rPr lang="en-GB" smtClean="0"/>
              <a:t>04/05/2026</a:t>
            </a:fld>
            <a:endParaRPr lang="en-GB"/>
          </a:p>
        </p:txBody>
      </p:sp>
      <p:sp>
        <p:nvSpPr>
          <p:cNvPr id="3" name="Footer Placeholder 2">
            <a:extLst>
              <a:ext uri="{FF2B5EF4-FFF2-40B4-BE49-F238E27FC236}">
                <a16:creationId xmlns:a16="http://schemas.microsoft.com/office/drawing/2014/main" id="{C07BD72F-97D1-BC3E-8C4D-100EF4562AC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1D95F4E-2FE1-098A-24DC-A4523E63B3AA}"/>
              </a:ext>
            </a:extLst>
          </p:cNvPr>
          <p:cNvSpPr>
            <a:spLocks noGrp="1"/>
          </p:cNvSpPr>
          <p:nvPr>
            <p:ph type="sldNum" sz="quarter" idx="12"/>
          </p:nvPr>
        </p:nvSpPr>
        <p:spPr/>
        <p:txBody>
          <a:bodyPr/>
          <a:lstStyle/>
          <a:p>
            <a:fld id="{464173BE-511F-45D5-909C-1F1A36D275C1}" type="slidenum">
              <a:rPr lang="en-GB" smtClean="0"/>
              <a:t>‹#›</a:t>
            </a:fld>
            <a:endParaRPr lang="en-GB"/>
          </a:p>
        </p:txBody>
      </p:sp>
    </p:spTree>
    <p:extLst>
      <p:ext uri="{BB962C8B-B14F-4D97-AF65-F5344CB8AC3E}">
        <p14:creationId xmlns:p14="http://schemas.microsoft.com/office/powerpoint/2010/main" val="52696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3E8C1-A2CA-9AC0-BF60-18D3ADD48A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DAEC8CA-C677-02D6-088C-3D2668499F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1388284-FCA0-4E42-8BD8-E0FD759CBE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0CFE57-33D1-3267-146C-870CAA3A2110}"/>
              </a:ext>
            </a:extLst>
          </p:cNvPr>
          <p:cNvSpPr>
            <a:spLocks noGrp="1"/>
          </p:cNvSpPr>
          <p:nvPr>
            <p:ph type="dt" sz="half" idx="10"/>
          </p:nvPr>
        </p:nvSpPr>
        <p:spPr/>
        <p:txBody>
          <a:bodyPr/>
          <a:lstStyle/>
          <a:p>
            <a:fld id="{7520F557-9DD8-43CA-A044-14D31FD8E58E}" type="datetimeFigureOut">
              <a:rPr lang="en-GB" smtClean="0"/>
              <a:t>04/05/2026</a:t>
            </a:fld>
            <a:endParaRPr lang="en-GB"/>
          </a:p>
        </p:txBody>
      </p:sp>
      <p:sp>
        <p:nvSpPr>
          <p:cNvPr id="6" name="Footer Placeholder 5">
            <a:extLst>
              <a:ext uri="{FF2B5EF4-FFF2-40B4-BE49-F238E27FC236}">
                <a16:creationId xmlns:a16="http://schemas.microsoft.com/office/drawing/2014/main" id="{DAF5391D-01CB-63EC-11F4-7DFAAB69C6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AD46461-4044-F395-5E8C-A771160D7454}"/>
              </a:ext>
            </a:extLst>
          </p:cNvPr>
          <p:cNvSpPr>
            <a:spLocks noGrp="1"/>
          </p:cNvSpPr>
          <p:nvPr>
            <p:ph type="sldNum" sz="quarter" idx="12"/>
          </p:nvPr>
        </p:nvSpPr>
        <p:spPr/>
        <p:txBody>
          <a:bodyPr/>
          <a:lstStyle/>
          <a:p>
            <a:fld id="{464173BE-511F-45D5-909C-1F1A36D275C1}" type="slidenum">
              <a:rPr lang="en-GB" smtClean="0"/>
              <a:t>‹#›</a:t>
            </a:fld>
            <a:endParaRPr lang="en-GB"/>
          </a:p>
        </p:txBody>
      </p:sp>
    </p:spTree>
    <p:extLst>
      <p:ext uri="{BB962C8B-B14F-4D97-AF65-F5344CB8AC3E}">
        <p14:creationId xmlns:p14="http://schemas.microsoft.com/office/powerpoint/2010/main" val="4226437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5231C-EDD3-B654-3C1E-016E88E534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49AC6CE-B6DA-7698-50C4-D74CBA17BC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C26D4E1-99C0-558D-9BFE-AD1BC36BC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2DB33D-758B-BDF7-7071-0871EF330D23}"/>
              </a:ext>
            </a:extLst>
          </p:cNvPr>
          <p:cNvSpPr>
            <a:spLocks noGrp="1"/>
          </p:cNvSpPr>
          <p:nvPr>
            <p:ph type="dt" sz="half" idx="10"/>
          </p:nvPr>
        </p:nvSpPr>
        <p:spPr/>
        <p:txBody>
          <a:bodyPr/>
          <a:lstStyle/>
          <a:p>
            <a:fld id="{7520F557-9DD8-43CA-A044-14D31FD8E58E}" type="datetimeFigureOut">
              <a:rPr lang="en-GB" smtClean="0"/>
              <a:t>04/05/2026</a:t>
            </a:fld>
            <a:endParaRPr lang="en-GB"/>
          </a:p>
        </p:txBody>
      </p:sp>
      <p:sp>
        <p:nvSpPr>
          <p:cNvPr id="6" name="Footer Placeholder 5">
            <a:extLst>
              <a:ext uri="{FF2B5EF4-FFF2-40B4-BE49-F238E27FC236}">
                <a16:creationId xmlns:a16="http://schemas.microsoft.com/office/drawing/2014/main" id="{11551F65-42EC-627A-77EE-A7CF7471E7C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5511364-942C-106A-ACE1-CFCEF63CD276}"/>
              </a:ext>
            </a:extLst>
          </p:cNvPr>
          <p:cNvSpPr>
            <a:spLocks noGrp="1"/>
          </p:cNvSpPr>
          <p:nvPr>
            <p:ph type="sldNum" sz="quarter" idx="12"/>
          </p:nvPr>
        </p:nvSpPr>
        <p:spPr/>
        <p:txBody>
          <a:bodyPr/>
          <a:lstStyle/>
          <a:p>
            <a:fld id="{464173BE-511F-45D5-909C-1F1A36D275C1}" type="slidenum">
              <a:rPr lang="en-GB" smtClean="0"/>
              <a:t>‹#›</a:t>
            </a:fld>
            <a:endParaRPr lang="en-GB"/>
          </a:p>
        </p:txBody>
      </p:sp>
    </p:spTree>
    <p:extLst>
      <p:ext uri="{BB962C8B-B14F-4D97-AF65-F5344CB8AC3E}">
        <p14:creationId xmlns:p14="http://schemas.microsoft.com/office/powerpoint/2010/main" val="4270116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AD542-F118-E070-FD48-B14456F323D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69EF08B-6C40-61DC-58CC-EE42BFF29A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F0B4737-0E3A-C1A5-6A76-0FD2283C46CE}"/>
              </a:ext>
            </a:extLst>
          </p:cNvPr>
          <p:cNvSpPr>
            <a:spLocks noGrp="1"/>
          </p:cNvSpPr>
          <p:nvPr>
            <p:ph type="dt" sz="half" idx="10"/>
          </p:nvPr>
        </p:nvSpPr>
        <p:spPr/>
        <p:txBody>
          <a:bodyPr/>
          <a:lstStyle/>
          <a:p>
            <a:fld id="{7520F557-9DD8-43CA-A044-14D31FD8E58E}" type="datetimeFigureOut">
              <a:rPr lang="en-GB" smtClean="0"/>
              <a:t>04/05/2026</a:t>
            </a:fld>
            <a:endParaRPr lang="en-GB"/>
          </a:p>
        </p:txBody>
      </p:sp>
      <p:sp>
        <p:nvSpPr>
          <p:cNvPr id="5" name="Footer Placeholder 4">
            <a:extLst>
              <a:ext uri="{FF2B5EF4-FFF2-40B4-BE49-F238E27FC236}">
                <a16:creationId xmlns:a16="http://schemas.microsoft.com/office/drawing/2014/main" id="{2C9B54CC-81F7-5FC4-C041-F708F4C29C5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801F748-5DE6-67B3-4D44-A1D575AA19E2}"/>
              </a:ext>
            </a:extLst>
          </p:cNvPr>
          <p:cNvSpPr>
            <a:spLocks noGrp="1"/>
          </p:cNvSpPr>
          <p:nvPr>
            <p:ph type="sldNum" sz="quarter" idx="12"/>
          </p:nvPr>
        </p:nvSpPr>
        <p:spPr/>
        <p:txBody>
          <a:bodyPr/>
          <a:lstStyle/>
          <a:p>
            <a:fld id="{464173BE-511F-45D5-909C-1F1A36D275C1}" type="slidenum">
              <a:rPr lang="en-GB" smtClean="0"/>
              <a:t>‹#›</a:t>
            </a:fld>
            <a:endParaRPr lang="en-GB"/>
          </a:p>
        </p:txBody>
      </p:sp>
    </p:spTree>
    <p:extLst>
      <p:ext uri="{BB962C8B-B14F-4D97-AF65-F5344CB8AC3E}">
        <p14:creationId xmlns:p14="http://schemas.microsoft.com/office/powerpoint/2010/main" val="3410909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7880F9-F8DB-8415-4384-5557A86560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EEB9A3A-5AA5-2D6A-F360-3F6F7B111A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E780C08-E560-E632-0023-348CA5A040C7}"/>
              </a:ext>
            </a:extLst>
          </p:cNvPr>
          <p:cNvSpPr>
            <a:spLocks noGrp="1"/>
          </p:cNvSpPr>
          <p:nvPr>
            <p:ph type="dt" sz="half" idx="10"/>
          </p:nvPr>
        </p:nvSpPr>
        <p:spPr/>
        <p:txBody>
          <a:bodyPr/>
          <a:lstStyle/>
          <a:p>
            <a:fld id="{7520F557-9DD8-43CA-A044-14D31FD8E58E}" type="datetimeFigureOut">
              <a:rPr lang="en-GB" smtClean="0"/>
              <a:t>04/05/2026</a:t>
            </a:fld>
            <a:endParaRPr lang="en-GB"/>
          </a:p>
        </p:txBody>
      </p:sp>
      <p:sp>
        <p:nvSpPr>
          <p:cNvPr id="5" name="Footer Placeholder 4">
            <a:extLst>
              <a:ext uri="{FF2B5EF4-FFF2-40B4-BE49-F238E27FC236}">
                <a16:creationId xmlns:a16="http://schemas.microsoft.com/office/drawing/2014/main" id="{7D562A8E-E75F-3499-E2AB-E2F4FFA7C6B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187468B-5CFE-FBDF-A515-CC398608B3A5}"/>
              </a:ext>
            </a:extLst>
          </p:cNvPr>
          <p:cNvSpPr>
            <a:spLocks noGrp="1"/>
          </p:cNvSpPr>
          <p:nvPr>
            <p:ph type="sldNum" sz="quarter" idx="12"/>
          </p:nvPr>
        </p:nvSpPr>
        <p:spPr/>
        <p:txBody>
          <a:bodyPr/>
          <a:lstStyle/>
          <a:p>
            <a:fld id="{464173BE-511F-45D5-909C-1F1A36D275C1}" type="slidenum">
              <a:rPr lang="en-GB" smtClean="0"/>
              <a:t>‹#›</a:t>
            </a:fld>
            <a:endParaRPr lang="en-GB"/>
          </a:p>
        </p:txBody>
      </p:sp>
    </p:spTree>
    <p:extLst>
      <p:ext uri="{BB962C8B-B14F-4D97-AF65-F5344CB8AC3E}">
        <p14:creationId xmlns:p14="http://schemas.microsoft.com/office/powerpoint/2010/main" val="19472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88DA9B-CE23-0765-BFFC-0B12B57DE3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1BED2D4-3B0F-B3BC-8278-AB8223FCCC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B854854-241C-9180-2EE9-007959477D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520F557-9DD8-43CA-A044-14D31FD8E58E}" type="datetimeFigureOut">
              <a:rPr lang="en-GB" smtClean="0"/>
              <a:t>04/05/2026</a:t>
            </a:fld>
            <a:endParaRPr lang="en-GB"/>
          </a:p>
        </p:txBody>
      </p:sp>
      <p:sp>
        <p:nvSpPr>
          <p:cNvPr id="5" name="Footer Placeholder 4">
            <a:extLst>
              <a:ext uri="{FF2B5EF4-FFF2-40B4-BE49-F238E27FC236}">
                <a16:creationId xmlns:a16="http://schemas.microsoft.com/office/drawing/2014/main" id="{4643A48F-4914-64A0-995C-4F9CD6B5C7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71A6C61-533A-382F-E931-F24433D444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64173BE-511F-45D5-909C-1F1A36D275C1}" type="slidenum">
              <a:rPr lang="en-GB" smtClean="0"/>
              <a:t>‹#›</a:t>
            </a:fld>
            <a:endParaRPr lang="en-GB"/>
          </a:p>
        </p:txBody>
      </p:sp>
    </p:spTree>
    <p:extLst>
      <p:ext uri="{BB962C8B-B14F-4D97-AF65-F5344CB8AC3E}">
        <p14:creationId xmlns:p14="http://schemas.microsoft.com/office/powerpoint/2010/main" val="39304706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2AB6A-58DE-8B4A-F1B4-472FEA7B524B}"/>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7B51C68D-5DEA-D462-EDA9-2208F5B92BE0}"/>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070968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7A0E86-96E0-3C8E-C267-2AD1269E1EB4}"/>
              </a:ext>
            </a:extLst>
          </p:cNvPr>
          <p:cNvPicPr>
            <a:picLocks noChangeAspect="1"/>
          </p:cNvPicPr>
          <p:nvPr/>
        </p:nvPicPr>
        <p:blipFill>
          <a:blip r:embed="rId3"/>
          <a:stretch>
            <a:fillRect/>
          </a:stretch>
        </p:blipFill>
        <p:spPr>
          <a:xfrm>
            <a:off x="0" y="641494"/>
            <a:ext cx="12192000" cy="5575012"/>
          </a:xfrm>
          <a:prstGeom prst="rect">
            <a:avLst/>
          </a:prstGeom>
        </p:spPr>
      </p:pic>
      <p:sp>
        <p:nvSpPr>
          <p:cNvPr id="4" name="Rectangle 3">
            <a:extLst>
              <a:ext uri="{FF2B5EF4-FFF2-40B4-BE49-F238E27FC236}">
                <a16:creationId xmlns:a16="http://schemas.microsoft.com/office/drawing/2014/main" id="{0639599C-4491-DE52-3940-C930155EA893}"/>
              </a:ext>
            </a:extLst>
          </p:cNvPr>
          <p:cNvSpPr/>
          <p:nvPr/>
        </p:nvSpPr>
        <p:spPr>
          <a:xfrm>
            <a:off x="5761529" y="1739788"/>
            <a:ext cx="954860" cy="19339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42185743-1BD9-C6FF-DCB4-270792638712}"/>
              </a:ext>
            </a:extLst>
          </p:cNvPr>
          <p:cNvSpPr/>
          <p:nvPr/>
        </p:nvSpPr>
        <p:spPr>
          <a:xfrm>
            <a:off x="7849274" y="1650775"/>
            <a:ext cx="954860" cy="19339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FB7D9F0E-50D8-1BD6-6E6A-78A9355E0917}"/>
              </a:ext>
            </a:extLst>
          </p:cNvPr>
          <p:cNvSpPr/>
          <p:nvPr/>
        </p:nvSpPr>
        <p:spPr>
          <a:xfrm>
            <a:off x="8893147" y="1650775"/>
            <a:ext cx="954860" cy="19339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D46A86E6-53DA-1437-3E31-B235CC50819B}"/>
              </a:ext>
            </a:extLst>
          </p:cNvPr>
          <p:cNvSpPr/>
          <p:nvPr/>
        </p:nvSpPr>
        <p:spPr>
          <a:xfrm>
            <a:off x="11056417" y="1812617"/>
            <a:ext cx="954860" cy="19339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5F1D2285-8481-41BA-716D-6A135C54ED60}"/>
              </a:ext>
            </a:extLst>
          </p:cNvPr>
          <p:cNvSpPr/>
          <p:nvPr/>
        </p:nvSpPr>
        <p:spPr>
          <a:xfrm>
            <a:off x="2794449" y="4005558"/>
            <a:ext cx="954860" cy="19339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A8127EEE-1F0E-E052-B252-5C24CA3D4AAC}"/>
              </a:ext>
            </a:extLst>
          </p:cNvPr>
          <p:cNvSpPr/>
          <p:nvPr/>
        </p:nvSpPr>
        <p:spPr>
          <a:xfrm>
            <a:off x="1839589" y="4144034"/>
            <a:ext cx="954860" cy="19339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9FE2F451-6431-1BA4-BD23-97FE6AC9D665}"/>
              </a:ext>
            </a:extLst>
          </p:cNvPr>
          <p:cNvSpPr/>
          <p:nvPr/>
        </p:nvSpPr>
        <p:spPr>
          <a:xfrm>
            <a:off x="4550421" y="4005558"/>
            <a:ext cx="954860" cy="19339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E27C2883-CC31-A13F-11BD-ED98EA366A16}"/>
              </a:ext>
            </a:extLst>
          </p:cNvPr>
          <p:cNvSpPr/>
          <p:nvPr/>
        </p:nvSpPr>
        <p:spPr>
          <a:xfrm>
            <a:off x="7965263" y="4005558"/>
            <a:ext cx="1300118" cy="19339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06CC012D-8EE1-3295-75FD-1476A247E5D3}"/>
              </a:ext>
            </a:extLst>
          </p:cNvPr>
          <p:cNvSpPr/>
          <p:nvPr/>
        </p:nvSpPr>
        <p:spPr>
          <a:xfrm>
            <a:off x="6392707" y="4172356"/>
            <a:ext cx="954860" cy="19339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6951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DB192A-9F63-ADE3-88AB-190611D01571}"/>
              </a:ext>
            </a:extLst>
          </p:cNvPr>
          <p:cNvPicPr>
            <a:picLocks noChangeAspect="1"/>
          </p:cNvPicPr>
          <p:nvPr/>
        </p:nvPicPr>
        <p:blipFill>
          <a:blip r:embed="rId2"/>
          <a:stretch>
            <a:fillRect/>
          </a:stretch>
        </p:blipFill>
        <p:spPr>
          <a:xfrm>
            <a:off x="1714680" y="86314"/>
            <a:ext cx="8933730" cy="6771686"/>
          </a:xfrm>
          <a:prstGeom prst="rect">
            <a:avLst/>
          </a:prstGeom>
        </p:spPr>
      </p:pic>
    </p:spTree>
    <p:extLst>
      <p:ext uri="{BB962C8B-B14F-4D97-AF65-F5344CB8AC3E}">
        <p14:creationId xmlns:p14="http://schemas.microsoft.com/office/powerpoint/2010/main" val="2978696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C8D3D7-C50B-D095-11F7-34AD456E141F}"/>
              </a:ext>
            </a:extLst>
          </p:cNvPr>
          <p:cNvPicPr>
            <a:picLocks noChangeAspect="1"/>
          </p:cNvPicPr>
          <p:nvPr/>
        </p:nvPicPr>
        <p:blipFill>
          <a:blip r:embed="rId2"/>
          <a:stretch>
            <a:fillRect/>
          </a:stretch>
        </p:blipFill>
        <p:spPr>
          <a:xfrm>
            <a:off x="818834" y="0"/>
            <a:ext cx="9621892" cy="6858000"/>
          </a:xfrm>
          <a:prstGeom prst="rect">
            <a:avLst/>
          </a:prstGeom>
        </p:spPr>
      </p:pic>
    </p:spTree>
    <p:extLst>
      <p:ext uri="{BB962C8B-B14F-4D97-AF65-F5344CB8AC3E}">
        <p14:creationId xmlns:p14="http://schemas.microsoft.com/office/powerpoint/2010/main" val="4048282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97DD90-E941-29BA-C302-2BFC5F0D13AD}"/>
              </a:ext>
            </a:extLst>
          </p:cNvPr>
          <p:cNvPicPr>
            <a:picLocks noChangeAspect="1"/>
          </p:cNvPicPr>
          <p:nvPr/>
        </p:nvPicPr>
        <p:blipFill>
          <a:blip r:embed="rId2"/>
          <a:stretch>
            <a:fillRect/>
          </a:stretch>
        </p:blipFill>
        <p:spPr>
          <a:xfrm>
            <a:off x="143188" y="445416"/>
            <a:ext cx="12048812" cy="5967167"/>
          </a:xfrm>
          <a:prstGeom prst="rect">
            <a:avLst/>
          </a:prstGeom>
        </p:spPr>
      </p:pic>
    </p:spTree>
    <p:extLst>
      <p:ext uri="{BB962C8B-B14F-4D97-AF65-F5344CB8AC3E}">
        <p14:creationId xmlns:p14="http://schemas.microsoft.com/office/powerpoint/2010/main" val="3094757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biased_composition">
            <a:extLst>
              <a:ext uri="{FF2B5EF4-FFF2-40B4-BE49-F238E27FC236}">
                <a16:creationId xmlns:a16="http://schemas.microsoft.com/office/drawing/2014/main" id="{7BE74E6A-663D-EC36-0005-CF2F4140E7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926" y="1124687"/>
            <a:ext cx="7987423" cy="53816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7C830BB-A0FB-490C-41D6-3E71DE8615F5}"/>
              </a:ext>
            </a:extLst>
          </p:cNvPr>
          <p:cNvSpPr txBox="1"/>
          <p:nvPr/>
        </p:nvSpPr>
        <p:spPr>
          <a:xfrm>
            <a:off x="611511" y="568644"/>
            <a:ext cx="8233083" cy="584775"/>
          </a:xfrm>
          <a:prstGeom prst="rect">
            <a:avLst/>
          </a:prstGeom>
          <a:noFill/>
        </p:spPr>
        <p:txBody>
          <a:bodyPr wrap="square">
            <a:spAutoFit/>
          </a:bodyPr>
          <a:lstStyle/>
          <a:p>
            <a:r>
              <a:rPr lang="en-GB" sz="3200" b="1" dirty="0">
                <a:solidFill>
                  <a:srgbClr val="0070C0"/>
                </a:solidFill>
              </a:rPr>
              <a:t>FastQC Per base sequence content</a:t>
            </a:r>
          </a:p>
        </p:txBody>
      </p:sp>
      <p:sp>
        <p:nvSpPr>
          <p:cNvPr id="4" name="TextBox 3">
            <a:extLst>
              <a:ext uri="{FF2B5EF4-FFF2-40B4-BE49-F238E27FC236}">
                <a16:creationId xmlns:a16="http://schemas.microsoft.com/office/drawing/2014/main" id="{0579D846-4869-72A5-DEA2-2E0D32BC9619}"/>
              </a:ext>
            </a:extLst>
          </p:cNvPr>
          <p:cNvSpPr txBox="1"/>
          <p:nvPr/>
        </p:nvSpPr>
        <p:spPr>
          <a:xfrm>
            <a:off x="8561372" y="2508530"/>
            <a:ext cx="3467744" cy="523220"/>
          </a:xfrm>
          <a:prstGeom prst="rect">
            <a:avLst/>
          </a:prstGeom>
          <a:noFill/>
        </p:spPr>
        <p:txBody>
          <a:bodyPr wrap="none" rtlCol="0">
            <a:spAutoFit/>
          </a:bodyPr>
          <a:lstStyle/>
          <a:p>
            <a:r>
              <a:rPr lang="de-DE" sz="2800" b="1" dirty="0">
                <a:solidFill>
                  <a:srgbClr val="FF0000"/>
                </a:solidFill>
              </a:rPr>
              <a:t>Presence </a:t>
            </a:r>
            <a:r>
              <a:rPr lang="de-DE" sz="2800" b="1" dirty="0" err="1">
                <a:solidFill>
                  <a:srgbClr val="FF0000"/>
                </a:solidFill>
              </a:rPr>
              <a:t>of</a:t>
            </a:r>
            <a:r>
              <a:rPr lang="de-DE" sz="2800" b="1" dirty="0">
                <a:solidFill>
                  <a:srgbClr val="FF0000"/>
                </a:solidFill>
              </a:rPr>
              <a:t> </a:t>
            </a:r>
            <a:r>
              <a:rPr lang="de-DE" sz="2800" b="1" dirty="0" err="1">
                <a:solidFill>
                  <a:srgbClr val="FF0000"/>
                </a:solidFill>
              </a:rPr>
              <a:t>primers</a:t>
            </a:r>
            <a:endParaRPr lang="en-GB" sz="2800" b="1" dirty="0">
              <a:solidFill>
                <a:srgbClr val="FF0000"/>
              </a:solidFill>
            </a:endParaRPr>
          </a:p>
        </p:txBody>
      </p:sp>
    </p:spTree>
    <p:extLst>
      <p:ext uri="{BB962C8B-B14F-4D97-AF65-F5344CB8AC3E}">
        <p14:creationId xmlns:p14="http://schemas.microsoft.com/office/powerpoint/2010/main" val="1126984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riming_bias_check">
            <a:extLst>
              <a:ext uri="{FF2B5EF4-FFF2-40B4-BE49-F238E27FC236}">
                <a16:creationId xmlns:a16="http://schemas.microsoft.com/office/drawing/2014/main" id="{942A38F6-61D9-C6B6-D952-1F8144E2F5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584" y="1668787"/>
            <a:ext cx="11249726" cy="492722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EDA4095-A16A-3BE0-0C4A-911E28B707A9}"/>
              </a:ext>
            </a:extLst>
          </p:cNvPr>
          <p:cNvSpPr txBox="1"/>
          <p:nvPr/>
        </p:nvSpPr>
        <p:spPr>
          <a:xfrm>
            <a:off x="611511" y="568644"/>
            <a:ext cx="8233083" cy="584775"/>
          </a:xfrm>
          <a:prstGeom prst="rect">
            <a:avLst/>
          </a:prstGeom>
          <a:noFill/>
        </p:spPr>
        <p:txBody>
          <a:bodyPr wrap="square">
            <a:spAutoFit/>
          </a:bodyPr>
          <a:lstStyle/>
          <a:p>
            <a:r>
              <a:rPr lang="en-GB" sz="3200" b="1" dirty="0">
                <a:solidFill>
                  <a:srgbClr val="0070C0"/>
                </a:solidFill>
              </a:rPr>
              <a:t>FastQC Per base sequence content</a:t>
            </a:r>
          </a:p>
        </p:txBody>
      </p:sp>
      <p:sp>
        <p:nvSpPr>
          <p:cNvPr id="3" name="TextBox 2">
            <a:extLst>
              <a:ext uri="{FF2B5EF4-FFF2-40B4-BE49-F238E27FC236}">
                <a16:creationId xmlns:a16="http://schemas.microsoft.com/office/drawing/2014/main" id="{FDF6642B-AFA9-5A65-5049-8BDC624E8382}"/>
              </a:ext>
            </a:extLst>
          </p:cNvPr>
          <p:cNvSpPr txBox="1"/>
          <p:nvPr/>
        </p:nvSpPr>
        <p:spPr>
          <a:xfrm>
            <a:off x="8003022" y="1153419"/>
            <a:ext cx="3081100" cy="523220"/>
          </a:xfrm>
          <a:prstGeom prst="rect">
            <a:avLst/>
          </a:prstGeom>
          <a:noFill/>
        </p:spPr>
        <p:txBody>
          <a:bodyPr wrap="none" rtlCol="0">
            <a:spAutoFit/>
          </a:bodyPr>
          <a:lstStyle/>
          <a:p>
            <a:r>
              <a:rPr lang="de-DE" sz="2800" b="1" dirty="0">
                <a:solidFill>
                  <a:srgbClr val="FF0000"/>
                </a:solidFill>
              </a:rPr>
              <a:t>Presence </a:t>
            </a:r>
            <a:r>
              <a:rPr lang="de-DE" sz="2800" b="1" dirty="0" err="1">
                <a:solidFill>
                  <a:srgbClr val="FF0000"/>
                </a:solidFill>
              </a:rPr>
              <a:t>of</a:t>
            </a:r>
            <a:r>
              <a:rPr lang="de-DE" sz="2800" b="1" dirty="0">
                <a:solidFill>
                  <a:srgbClr val="FF0000"/>
                </a:solidFill>
              </a:rPr>
              <a:t> </a:t>
            </a:r>
            <a:r>
              <a:rPr lang="de-DE" sz="2800" b="1" dirty="0" err="1">
                <a:solidFill>
                  <a:srgbClr val="FF0000"/>
                </a:solidFill>
              </a:rPr>
              <a:t>index</a:t>
            </a:r>
            <a:endParaRPr lang="en-GB" sz="2800" b="1" dirty="0">
              <a:solidFill>
                <a:srgbClr val="FF0000"/>
              </a:solidFill>
            </a:endParaRPr>
          </a:p>
        </p:txBody>
      </p:sp>
    </p:spTree>
    <p:extLst>
      <p:ext uri="{BB962C8B-B14F-4D97-AF65-F5344CB8AC3E}">
        <p14:creationId xmlns:p14="http://schemas.microsoft.com/office/powerpoint/2010/main" val="760314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7019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943D5E-468F-C6E7-1A6D-B03D775363A4}"/>
              </a:ext>
            </a:extLst>
          </p:cNvPr>
          <p:cNvPicPr>
            <a:picLocks noChangeAspect="1"/>
          </p:cNvPicPr>
          <p:nvPr/>
        </p:nvPicPr>
        <p:blipFill>
          <a:blip r:embed="rId2"/>
          <a:stretch>
            <a:fillRect/>
          </a:stretch>
        </p:blipFill>
        <p:spPr>
          <a:xfrm>
            <a:off x="398576" y="679466"/>
            <a:ext cx="11533397" cy="5711908"/>
          </a:xfrm>
          <a:prstGeom prst="rect">
            <a:avLst/>
          </a:prstGeom>
        </p:spPr>
      </p:pic>
    </p:spTree>
    <p:extLst>
      <p:ext uri="{BB962C8B-B14F-4D97-AF65-F5344CB8AC3E}">
        <p14:creationId xmlns:p14="http://schemas.microsoft.com/office/powerpoint/2010/main" val="1674566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Quality control: Assessing FASTQC results | Introduction to RNA-Seq using  high-performance computing - ARCHIVED">
            <a:extLst>
              <a:ext uri="{FF2B5EF4-FFF2-40B4-BE49-F238E27FC236}">
                <a16:creationId xmlns:a16="http://schemas.microsoft.com/office/drawing/2014/main" id="{B6F05037-475F-1F58-C4DE-5E7E35731A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3113" y="338138"/>
            <a:ext cx="8105775" cy="618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7675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D24AC17-CDC0-D8ED-FDA7-C1591D8CD2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5013" y="319088"/>
            <a:ext cx="8181975" cy="6219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1229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3C3EDA-221F-AE8A-14D5-9DC0880DF068}"/>
              </a:ext>
            </a:extLst>
          </p:cNvPr>
          <p:cNvSpPr txBox="1"/>
          <p:nvPr/>
        </p:nvSpPr>
        <p:spPr>
          <a:xfrm>
            <a:off x="3048674" y="2726597"/>
            <a:ext cx="6097348" cy="923330"/>
          </a:xfrm>
          <a:prstGeom prst="rect">
            <a:avLst/>
          </a:prstGeom>
          <a:noFill/>
        </p:spPr>
        <p:txBody>
          <a:bodyPr wrap="square">
            <a:spAutoFit/>
          </a:bodyPr>
          <a:lstStyle/>
          <a:p>
            <a:r>
              <a:rPr lang="en-GB" dirty="0"/>
              <a:t>https://training.galaxyproject.org/training-material/topics/variant-analysis/tutorials/somatic-variants/tutorial.html</a:t>
            </a:r>
          </a:p>
        </p:txBody>
      </p:sp>
    </p:spTree>
    <p:extLst>
      <p:ext uri="{BB962C8B-B14F-4D97-AF65-F5344CB8AC3E}">
        <p14:creationId xmlns:p14="http://schemas.microsoft.com/office/powerpoint/2010/main" val="870845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31616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634</Words>
  <Application>Microsoft Office PowerPoint</Application>
  <PresentationFormat>Widescreen</PresentationFormat>
  <Paragraphs>34</Paragraphs>
  <Slides>13</Slides>
  <Notes>1</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Yassine Kasmi</dc:creator>
  <cp:lastModifiedBy>Yassine Kasmi</cp:lastModifiedBy>
  <cp:revision>1</cp:revision>
  <dcterms:created xsi:type="dcterms:W3CDTF">2026-04-04T18:48:36Z</dcterms:created>
  <dcterms:modified xsi:type="dcterms:W3CDTF">2026-05-04T15:22:55Z</dcterms:modified>
</cp:coreProperties>
</file>